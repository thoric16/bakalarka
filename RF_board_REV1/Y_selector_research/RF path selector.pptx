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2192000" cy="6858000"/>
  <p:notesSz cx="6858000" cy="12192000"/>
  <p:custDataLst>
    <p:tags r:id="rId38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120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0639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E467D"/>
          </a:solidFill>
          <a:ln w="12700">
            <a:solidFill>
              <a:srgbClr val="1E467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Text 1"/>
          <p:cNvSpPr/>
          <p:nvPr/>
        </p:nvSpPr>
        <p:spPr>
          <a:xfrm>
            <a:off x="438912" y="656539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GHz RF path selection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863840" y="656539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discussion | 17 Aug 2026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4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458"/>
          </a:solidFill>
          <a:ln w="12700">
            <a:solidFill>
              <a:srgbClr val="16345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B8AC4"/>
          </a:solidFill>
          <a:ln w="12700">
            <a:solidFill>
              <a:srgbClr val="4B8AC4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" name="Text 2"/>
          <p:cNvSpPr/>
          <p:nvPr/>
        </p:nvSpPr>
        <p:spPr>
          <a:xfrm>
            <a:off x="685800" y="731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170" dirty="0">
                <a:solidFill>
                  <a:srgbClr val="BF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DESIGN REVIEW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8368" y="141732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GHz RF jumpers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94944" y="224028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E5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change the path from direct-through to a test connector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13232" y="297180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BF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options, RF tradeoffs, layout rules, and a verification plan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937760"/>
            <a:ext cx="2011680" cy="0"/>
          </a:xfrm>
          <a:prstGeom prst="line">
            <a:avLst/>
          </a:prstGeom>
          <a:noFill/>
          <a:ln w="38100">
            <a:solidFill>
              <a:srgbClr val="7FB3E4"/>
            </a:solidFill>
            <a:prstDash val="solid"/>
            <a:tail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9" name="Shape 7"/>
          <p:cNvSpPr/>
          <p:nvPr/>
        </p:nvSpPr>
        <p:spPr>
          <a:xfrm>
            <a:off x="3017520" y="4681728"/>
            <a:ext cx="1234440" cy="512064"/>
          </a:xfrm>
          <a:prstGeom prst="roundRect">
            <a:avLst/>
          </a:prstGeom>
          <a:solidFill>
            <a:srgbClr val="EAF2FB"/>
          </a:solidFill>
          <a:ln w="19050">
            <a:solidFill>
              <a:srgbClr val="7FB3E4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Text 8"/>
          <p:cNvSpPr/>
          <p:nvPr/>
        </p:nvSpPr>
        <p:spPr>
          <a:xfrm>
            <a:off x="3017520" y="472744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 part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51960" y="4937760"/>
            <a:ext cx="1234440" cy="0"/>
          </a:xfrm>
          <a:prstGeom prst="line">
            <a:avLst/>
          </a:prstGeom>
          <a:noFill/>
          <a:ln w="38100">
            <a:solidFill>
              <a:srgbClr val="7FB3E4"/>
            </a:solidFill>
            <a:prstDash val="solid"/>
            <a:tail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12" name="Shape 10"/>
          <p:cNvSpPr/>
          <p:nvPr/>
        </p:nvSpPr>
        <p:spPr>
          <a:xfrm>
            <a:off x="5669280" y="4681728"/>
            <a:ext cx="1325880" cy="512064"/>
          </a:xfrm>
          <a:prstGeom prst="roundRect">
            <a:avLst/>
          </a:prstGeom>
          <a:solidFill>
            <a:srgbClr val="D7E8F8"/>
          </a:solidFill>
          <a:ln w="19050">
            <a:solidFill>
              <a:srgbClr val="7FB3E4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3" name="Text 11"/>
          <p:cNvSpPr/>
          <p:nvPr/>
        </p:nvSpPr>
        <p:spPr>
          <a:xfrm>
            <a:off x="5669280" y="4727448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995160" y="4937760"/>
            <a:ext cx="1234440" cy="0"/>
          </a:xfrm>
          <a:prstGeom prst="line">
            <a:avLst/>
          </a:prstGeom>
          <a:noFill/>
          <a:ln w="38100">
            <a:solidFill>
              <a:srgbClr val="7FB3E4"/>
            </a:solidFill>
            <a:prstDash val="solid"/>
            <a:tail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15" name="Shape 13"/>
          <p:cNvSpPr/>
          <p:nvPr/>
        </p:nvSpPr>
        <p:spPr>
          <a:xfrm>
            <a:off x="6995160" y="4937760"/>
            <a:ext cx="1234440" cy="896112"/>
          </a:xfrm>
          <a:prstGeom prst="line">
            <a:avLst/>
          </a:prstGeom>
          <a:noFill/>
          <a:ln w="38100">
            <a:solidFill>
              <a:srgbClr val="7FB3E4"/>
            </a:solidFill>
            <a:prstDash val="solid"/>
            <a:tail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16" name="Shape 14"/>
          <p:cNvSpPr/>
          <p:nvPr/>
        </p:nvSpPr>
        <p:spPr>
          <a:xfrm>
            <a:off x="8412480" y="3785616"/>
            <a:ext cx="1234440" cy="512064"/>
          </a:xfrm>
          <a:prstGeom prst="roundRect">
            <a:avLst/>
          </a:prstGeom>
          <a:solidFill>
            <a:srgbClr val="EAF2FB"/>
          </a:solidFill>
          <a:ln w="19050">
            <a:solidFill>
              <a:srgbClr val="7FB3E4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7" name="Text 15"/>
          <p:cNvSpPr/>
          <p:nvPr/>
        </p:nvSpPr>
        <p:spPr>
          <a:xfrm>
            <a:off x="8412480" y="3831336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412480" y="5577840"/>
            <a:ext cx="1234440" cy="512064"/>
          </a:xfrm>
          <a:prstGeom prst="roundRect">
            <a:avLst/>
          </a:prstGeom>
          <a:solidFill>
            <a:srgbClr val="F9E7C7"/>
          </a:solidFill>
          <a:ln w="19050">
            <a:solidFill>
              <a:srgbClr val="D6A546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9" name="Text 17"/>
          <p:cNvSpPr/>
          <p:nvPr/>
        </p:nvSpPr>
        <p:spPr>
          <a:xfrm>
            <a:off x="8412480" y="562356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13232" y="623620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BFD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technical discussion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30" dirty="0">
                <a:solidFill>
                  <a:srgbClr val="1E4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| PROBLEM DEFINITION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design question is a controlled RF state change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921240" y="393192"/>
            <a:ext cx="1764792" cy="265176"/>
          </a:xfrm>
          <a:prstGeom prst="roundRect">
            <a:avLst/>
          </a:prstGeom>
          <a:solidFill>
            <a:srgbClr val="163458"/>
          </a:solidFill>
          <a:ln w="12700">
            <a:solidFill>
              <a:srgbClr val="16345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/>
          <p:nvPr/>
        </p:nvSpPr>
        <p:spPr>
          <a:xfrm>
            <a:off x="9921240" y="406908"/>
            <a:ext cx="1764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QUESTION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2984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node must support two mutually exclusive destinations without turning the unused branch into an RF problem.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85800" y="2743200"/>
            <a:ext cx="1554480" cy="621792"/>
          </a:xfrm>
          <a:prstGeom prst="roundRect">
            <a:avLst/>
          </a:prstGeom>
          <a:solidFill>
            <a:srgbClr val="EAF2FB"/>
          </a:solidFill>
          <a:ln w="19050">
            <a:solidFill>
              <a:srgbClr val="1E467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Text 6"/>
          <p:cNvSpPr/>
          <p:nvPr/>
        </p:nvSpPr>
        <p:spPr>
          <a:xfrm>
            <a:off x="685800" y="2788920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 component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40280" y="3054096"/>
            <a:ext cx="1463040" cy="0"/>
          </a:xfrm>
          <a:prstGeom prst="line">
            <a:avLst/>
          </a:prstGeom>
          <a:noFill/>
          <a:ln w="31750">
            <a:solidFill>
              <a:srgbClr val="1E467D"/>
            </a:solidFill>
            <a:prstDash val="solid"/>
            <a:tail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10" name="Shape 8"/>
          <p:cNvSpPr/>
          <p:nvPr/>
        </p:nvSpPr>
        <p:spPr>
          <a:xfrm>
            <a:off x="3840480" y="2679192"/>
            <a:ext cx="1600200" cy="749808"/>
          </a:xfrm>
          <a:prstGeom prst="roundRect">
            <a:avLst/>
          </a:prstGeom>
          <a:solidFill>
            <a:srgbClr val="1E467D"/>
          </a:solidFill>
          <a:ln w="19050">
            <a:solidFill>
              <a:srgbClr val="1E467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Text 9"/>
          <p:cNvSpPr/>
          <p:nvPr/>
        </p:nvSpPr>
        <p:spPr>
          <a:xfrm>
            <a:off x="3840480" y="2724912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SELECT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968496" y="2907792"/>
            <a:ext cx="1344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 / LINK / RELAY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40680" y="3054096"/>
            <a:ext cx="1051560" cy="0"/>
          </a:xfrm>
          <a:prstGeom prst="line">
            <a:avLst/>
          </a:prstGeom>
          <a:noFill/>
          <a:ln w="31750">
            <a:solidFill>
              <a:srgbClr val="2E7D5B"/>
            </a:solidFill>
            <a:prstDash val="solid"/>
            <a:tail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14" name="Shape 12"/>
          <p:cNvSpPr/>
          <p:nvPr/>
        </p:nvSpPr>
        <p:spPr>
          <a:xfrm>
            <a:off x="5440680" y="3054096"/>
            <a:ext cx="1051560" cy="914400"/>
          </a:xfrm>
          <a:prstGeom prst="line">
            <a:avLst/>
          </a:prstGeom>
          <a:noFill/>
          <a:ln w="31750">
            <a:solidFill>
              <a:srgbClr val="B7791F"/>
            </a:solidFill>
            <a:prstDash val="solid"/>
            <a:tail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15" name="Shape 13"/>
          <p:cNvSpPr/>
          <p:nvPr/>
        </p:nvSpPr>
        <p:spPr>
          <a:xfrm>
            <a:off x="6720840" y="1783080"/>
            <a:ext cx="1691640" cy="694944"/>
          </a:xfrm>
          <a:prstGeom prst="roundRect">
            <a:avLst/>
          </a:prstGeom>
          <a:solidFill>
            <a:srgbClr val="EAF2FB"/>
          </a:solidFill>
          <a:ln w="19050">
            <a:solidFill>
              <a:srgbClr val="1E467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6" name="Text 14"/>
          <p:cNvSpPr/>
          <p:nvPr/>
        </p:nvSpPr>
        <p:spPr>
          <a:xfrm>
            <a:off x="6720840" y="1828800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RF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720840" y="3621024"/>
            <a:ext cx="1691640" cy="694944"/>
          </a:xfrm>
          <a:prstGeom prst="roundRect">
            <a:avLst/>
          </a:prstGeom>
          <a:solidFill>
            <a:srgbClr val="F9E7C7"/>
          </a:solidFill>
          <a:ln w="1905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8" name="Text 16"/>
          <p:cNvSpPr/>
          <p:nvPr/>
        </p:nvSpPr>
        <p:spPr>
          <a:xfrm>
            <a:off x="6720840" y="3666744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CONNECTOR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006840" y="1700784"/>
            <a:ext cx="1874520" cy="914400"/>
          </a:xfrm>
          <a:prstGeom prst="roundRect">
            <a:avLst/>
          </a:prstGeom>
          <a:solidFill>
            <a:srgbClr val="E8F5EF"/>
          </a:solidFill>
          <a:ln w="12700">
            <a:solidFill>
              <a:srgbClr val="9AC9B1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0" name="Text 18"/>
          <p:cNvSpPr/>
          <p:nvPr/>
        </p:nvSpPr>
        <p:spPr>
          <a:xfrm>
            <a:off x="9116568" y="1773936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A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path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006840" y="3547872"/>
            <a:ext cx="1874520" cy="914400"/>
          </a:xfrm>
          <a:prstGeom prst="roundRect">
            <a:avLst/>
          </a:prstGeom>
          <a:solidFill>
            <a:srgbClr val="FFF5E5"/>
          </a:solidFill>
          <a:ln w="12700">
            <a:solidFill>
              <a:srgbClr val="E8C57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2" name="Text 20"/>
          <p:cNvSpPr/>
          <p:nvPr/>
        </p:nvSpPr>
        <p:spPr>
          <a:xfrm>
            <a:off x="9116568" y="3621024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B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access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31520" y="5212080"/>
            <a:ext cx="1042416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test port a replacement path or a monitor port?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switching occur powered, unpowered, or only during service?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the allowed loss, isolation, VSWR, and lifetime?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30" dirty="0">
                <a:solidFill>
                  <a:srgbClr val="1E4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| RF REALITY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12 GHz, the interconnect is part of the circuit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921240" y="393192"/>
            <a:ext cx="1764792" cy="265176"/>
          </a:xfrm>
          <a:prstGeom prst="roundRect">
            <a:avLst/>
          </a:prstGeom>
          <a:solidFill>
            <a:srgbClr val="163458"/>
          </a:solidFill>
          <a:ln w="12700">
            <a:solidFill>
              <a:srgbClr val="16345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/>
          <p:nvPr/>
        </p:nvSpPr>
        <p:spPr>
          <a:xfrm>
            <a:off x="9921240" y="406908"/>
            <a:ext cx="1764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TARGETS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371600"/>
            <a:ext cx="2468880" cy="566928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B7CDE4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Text 5"/>
          <p:cNvSpPr/>
          <p:nvPr/>
        </p:nvSpPr>
        <p:spPr>
          <a:xfrm>
            <a:off x="704088" y="1444752"/>
            <a:ext cx="22494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E4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mm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594360" y="200253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free-space wavelength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29000" y="1371600"/>
            <a:ext cx="2468880" cy="566928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B7CDE4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Text 8"/>
          <p:cNvSpPr/>
          <p:nvPr/>
        </p:nvSpPr>
        <p:spPr>
          <a:xfrm>
            <a:off x="3538728" y="1444752"/>
            <a:ext cx="22494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E4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~15-18 mm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3429000" y="200253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guided wavelength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1371600"/>
            <a:ext cx="2468880" cy="566928"/>
          </a:xfrm>
          <a:prstGeom prst="roundRect">
            <a:avLst/>
          </a:prstGeom>
          <a:solidFill>
            <a:srgbClr val="FFF5E5"/>
          </a:solidFill>
          <a:ln w="12700">
            <a:solidFill>
              <a:srgbClr val="E8C57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3" name="Text 11"/>
          <p:cNvSpPr/>
          <p:nvPr/>
        </p:nvSpPr>
        <p:spPr>
          <a:xfrm>
            <a:off x="6373368" y="1444752"/>
            <a:ext cx="22494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mm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6263640" y="200253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already a meaningful discontinuity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098280" y="1371600"/>
            <a:ext cx="2468880" cy="566928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B7CDE4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6" name="Text 14"/>
          <p:cNvSpPr/>
          <p:nvPr/>
        </p:nvSpPr>
        <p:spPr>
          <a:xfrm>
            <a:off x="9208008" y="1444752"/>
            <a:ext cx="22494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E4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-20 dB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9098280" y="200253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useful first isolation target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2834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creates risk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0080" y="3218688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jumper or test feature adds length, pads, vias, connector launch geometry, and an unused branch. Each can create reflection and loss.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55080" y="28346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must be measured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355080" y="3246120"/>
            <a:ext cx="4846320" cy="1463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S-parameters across the full operating band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Insertion loss in both selected states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loss at component, switch, and test ports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Isolation from the selected path to the unused path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5257800"/>
            <a:ext cx="10789920" cy="658368"/>
          </a:xfrm>
          <a:prstGeom prst="roundRect">
            <a:avLst/>
          </a:prstGeom>
          <a:solidFill>
            <a:srgbClr val="163458"/>
          </a:solidFill>
          <a:ln w="12700">
            <a:solidFill>
              <a:srgbClr val="16345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3" name="Text 21"/>
          <p:cNvSpPr/>
          <p:nvPr/>
        </p:nvSpPr>
        <p:spPr>
          <a:xfrm>
            <a:off x="749808" y="5330952"/>
            <a:ext cx="10570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choose the topology from DC continuity alone. Choose it from the RF error budget and the operating procedure.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30" dirty="0">
                <a:solidFill>
                  <a:srgbClr val="1E4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| REQUIREMENT SPLIT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are two fundamentally different requirements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921240" y="393192"/>
            <a:ext cx="1764792" cy="265176"/>
          </a:xfrm>
          <a:prstGeom prst="roundRect">
            <a:avLst/>
          </a:prstGeom>
          <a:solidFill>
            <a:srgbClr val="163458"/>
          </a:solidFill>
          <a:ln w="12700">
            <a:solidFill>
              <a:srgbClr val="16345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/>
          <p:nvPr/>
        </p:nvSpPr>
        <p:spPr>
          <a:xfrm>
            <a:off x="9921240" y="406908"/>
            <a:ext cx="1764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TREE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566160" y="1234440"/>
            <a:ext cx="5029200" cy="594360"/>
          </a:xfrm>
          <a:prstGeom prst="roundRect">
            <a:avLst/>
          </a:prstGeom>
          <a:solidFill>
            <a:srgbClr val="1E467D"/>
          </a:solidFill>
          <a:ln w="12700">
            <a:solidFill>
              <a:srgbClr val="1E467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Text 5"/>
          <p:cNvSpPr/>
          <p:nvPr/>
        </p:nvSpPr>
        <p:spPr>
          <a:xfrm>
            <a:off x="3675888" y="1307592"/>
            <a:ext cx="480974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"test connector" need to do?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080760" y="1828800"/>
            <a:ext cx="0" cy="777240"/>
          </a:xfrm>
          <a:prstGeom prst="line">
            <a:avLst/>
          </a:prstGeom>
          <a:noFill/>
          <a:ln w="25400">
            <a:solidFill>
              <a:srgbClr val="1E467D"/>
            </a:solidFill>
            <a:prstDash val="solid"/>
            <a:tail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9" name="Shape 7"/>
          <p:cNvSpPr/>
          <p:nvPr/>
        </p:nvSpPr>
        <p:spPr>
          <a:xfrm>
            <a:off x="6080760" y="1828800"/>
            <a:ext cx="3154680" cy="777240"/>
          </a:xfrm>
          <a:prstGeom prst="line">
            <a:avLst/>
          </a:prstGeom>
          <a:noFill/>
          <a:ln w="25400">
            <a:solidFill>
              <a:srgbClr val="1E467D"/>
            </a:solidFill>
            <a:prstDash val="solid"/>
            <a:tail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10" name="Shape 8"/>
          <p:cNvSpPr/>
          <p:nvPr/>
        </p:nvSpPr>
        <p:spPr>
          <a:xfrm>
            <a:off x="777240" y="2468880"/>
            <a:ext cx="4389120" cy="914400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B7CDE4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Text 9"/>
          <p:cNvSpPr/>
          <p:nvPr/>
        </p:nvSpPr>
        <p:spPr>
          <a:xfrm>
            <a:off x="886968" y="2542032"/>
            <a:ext cx="41696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the next component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 measurement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995160" y="2468880"/>
            <a:ext cx="4389120" cy="914400"/>
          </a:xfrm>
          <a:prstGeom prst="roundRect">
            <a:avLst/>
          </a:prstGeom>
          <a:solidFill>
            <a:srgbClr val="E8F5EF"/>
          </a:solidFill>
          <a:ln w="12700">
            <a:solidFill>
              <a:srgbClr val="9AC9B1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3" name="Text 11"/>
          <p:cNvSpPr/>
          <p:nvPr/>
        </p:nvSpPr>
        <p:spPr>
          <a:xfrm>
            <a:off x="7104888" y="2542032"/>
            <a:ext cx="41696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 the signal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the next component stays connected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828800" y="37033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4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 1:2 selector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001000" y="37033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 coupler or splitter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68680" y="4160520"/>
            <a:ext cx="420624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path is open when TEST is selected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Isolation protects the inactive destination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when test means "break in here"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086600" y="4160520"/>
            <a:ext cx="420624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path remains active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port receives a coupled, lower-power sample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 non-invasive monitoring or calibration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30" dirty="0">
                <a:solidFill>
                  <a:srgbClr val="1E4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| PASSIVE LINKS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1: fixed PCB links are cheap, but not operationally flexible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921240" y="393192"/>
            <a:ext cx="1764792" cy="265176"/>
          </a:xfrm>
          <a:prstGeom prst="roundRect">
            <a:avLst/>
          </a:prstGeom>
          <a:solidFill>
            <a:srgbClr val="163458"/>
          </a:solidFill>
          <a:ln w="12700">
            <a:solidFill>
              <a:srgbClr val="16345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/>
          <p:nvPr/>
        </p:nvSpPr>
        <p:spPr>
          <a:xfrm>
            <a:off x="9921240" y="406908"/>
            <a:ext cx="1764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COST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1051560" cy="530352"/>
          </a:xfrm>
          <a:prstGeom prst="roundRect">
            <a:avLst/>
          </a:prstGeom>
          <a:solidFill>
            <a:srgbClr val="EAF2FB"/>
          </a:solidFill>
          <a:ln w="19050">
            <a:solidFill>
              <a:srgbClr val="1E467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 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691640" y="2596896"/>
            <a:ext cx="1188720" cy="0"/>
          </a:xfrm>
          <a:prstGeom prst="line">
            <a:avLst/>
          </a:prstGeom>
          <a:noFill/>
          <a:ln w="31750">
            <a:solidFill>
              <a:srgbClr val="1E467D"/>
            </a:solidFill>
            <a:prstDash val="solid"/>
            <a:tail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9" name="Shape 7"/>
          <p:cNvSpPr/>
          <p:nvPr/>
        </p:nvSpPr>
        <p:spPr>
          <a:xfrm>
            <a:off x="2971800" y="2267712"/>
            <a:ext cx="150876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467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Text 8"/>
          <p:cNvSpPr/>
          <p:nvPr/>
        </p:nvSpPr>
        <p:spPr>
          <a:xfrm>
            <a:off x="2971800" y="2313432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ohm /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solder link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80560" y="2596896"/>
            <a:ext cx="1143000" cy="0"/>
          </a:xfrm>
          <a:prstGeom prst="line">
            <a:avLst/>
          </a:prstGeom>
          <a:noFill/>
          <a:ln w="31750">
            <a:solidFill>
              <a:srgbClr val="1E467D"/>
            </a:solidFill>
            <a:prstDash val="solid"/>
            <a:tail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12" name="Shape 10"/>
          <p:cNvSpPr/>
          <p:nvPr/>
        </p:nvSpPr>
        <p:spPr>
          <a:xfrm>
            <a:off x="5760720" y="2331720"/>
            <a:ext cx="1097280" cy="530352"/>
          </a:xfrm>
          <a:prstGeom prst="roundRect">
            <a:avLst/>
          </a:prstGeom>
          <a:solidFill>
            <a:srgbClr val="E8F5EF"/>
          </a:solidFill>
          <a:ln w="1905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3" name="Text 11"/>
          <p:cNvSpPr/>
          <p:nvPr/>
        </p:nvSpPr>
        <p:spPr>
          <a:xfrm>
            <a:off x="5760720" y="237744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703320" y="2926080"/>
            <a:ext cx="0" cy="1051560"/>
          </a:xfrm>
          <a:prstGeom prst="line">
            <a:avLst/>
          </a:prstGeom>
          <a:noFill/>
          <a:ln w="27940">
            <a:solidFill>
              <a:srgbClr val="B7791F"/>
            </a:solidFill>
            <a:prstDash val="solid"/>
            <a:tail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15" name="Shape 13"/>
          <p:cNvSpPr/>
          <p:nvPr/>
        </p:nvSpPr>
        <p:spPr>
          <a:xfrm>
            <a:off x="3063240" y="4069080"/>
            <a:ext cx="1280160" cy="530352"/>
          </a:xfrm>
          <a:prstGeom prst="roundRect">
            <a:avLst/>
          </a:prstGeom>
          <a:solidFill>
            <a:srgbClr val="F9E7C7"/>
          </a:solidFill>
          <a:ln w="1905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6" name="Text 14"/>
          <p:cNvSpPr/>
          <p:nvPr/>
        </p:nvSpPr>
        <p:spPr>
          <a:xfrm>
            <a:off x="3063240" y="411480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818120" y="1325880"/>
            <a:ext cx="3063240" cy="502920"/>
          </a:xfrm>
          <a:prstGeom prst="roundRect">
            <a:avLst/>
          </a:prstGeom>
          <a:solidFill>
            <a:srgbClr val="163458"/>
          </a:solidFill>
          <a:ln w="12700">
            <a:solidFill>
              <a:srgbClr val="16345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8" name="Text 16"/>
          <p:cNvSpPr/>
          <p:nvPr/>
        </p:nvSpPr>
        <p:spPr>
          <a:xfrm>
            <a:off x="7927848" y="1399032"/>
            <a:ext cx="28437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Assembly variant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818120" y="2029968"/>
            <a:ext cx="3429000" cy="1874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Solder bridge or 0 ohm resistor selects one route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Coax pigtail or edge connector can expose the test node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live switching; service requires rework or a build variant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Unused branch must be terminated, removed, or kept very short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85800" y="5166360"/>
            <a:ext cx="10652760" cy="658368"/>
          </a:xfrm>
          <a:prstGeom prst="roundRect">
            <a:avLst/>
          </a:prstGeom>
          <a:solidFill>
            <a:srgbClr val="FFF5E5"/>
          </a:solidFill>
          <a:ln w="12700">
            <a:solidFill>
              <a:srgbClr val="E8C57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1" name="Text 19"/>
          <p:cNvSpPr/>
          <p:nvPr/>
        </p:nvSpPr>
        <p:spPr>
          <a:xfrm>
            <a:off x="795528" y="5239512"/>
            <a:ext cx="104333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when: low unit volume, factory configuration, and rework is acceptable. Avoid when technicians must switch repeatedly.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30" dirty="0">
                <a:solidFill>
                  <a:srgbClr val="1E4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| COAXIAL JUMPER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2: a mechanical RF jumper gives service access without active electronics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921240" y="393192"/>
            <a:ext cx="1764792" cy="265176"/>
          </a:xfrm>
          <a:prstGeom prst="roundRect">
            <a:avLst/>
          </a:prstGeom>
          <a:solidFill>
            <a:srgbClr val="163458"/>
          </a:solidFill>
          <a:ln w="12700">
            <a:solidFill>
              <a:srgbClr val="16345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/>
          <p:nvPr/>
        </p:nvSpPr>
        <p:spPr>
          <a:xfrm>
            <a:off x="9921240" y="406908"/>
            <a:ext cx="1764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SERVICEABLE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2743200"/>
            <a:ext cx="1097280" cy="548640"/>
          </a:xfrm>
          <a:prstGeom prst="roundRect">
            <a:avLst/>
          </a:prstGeom>
          <a:solidFill>
            <a:srgbClr val="EAF2FB"/>
          </a:solidFill>
          <a:ln w="19050">
            <a:solidFill>
              <a:srgbClr val="1E467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Text 5"/>
          <p:cNvSpPr/>
          <p:nvPr/>
        </p:nvSpPr>
        <p:spPr>
          <a:xfrm>
            <a:off x="594360" y="27889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 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691640" y="3017520"/>
            <a:ext cx="1097280" cy="0"/>
          </a:xfrm>
          <a:prstGeom prst="line">
            <a:avLst/>
          </a:prstGeom>
          <a:noFill/>
          <a:ln w="31750">
            <a:solidFill>
              <a:srgbClr val="1E467D"/>
            </a:solidFill>
            <a:prstDash val="solid"/>
            <a:tail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9" name="Shape 7"/>
          <p:cNvSpPr/>
          <p:nvPr/>
        </p:nvSpPr>
        <p:spPr>
          <a:xfrm>
            <a:off x="2880360" y="2633472"/>
            <a:ext cx="1417320" cy="76809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467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Text 8"/>
          <p:cNvSpPr/>
          <p:nvPr/>
        </p:nvSpPr>
        <p:spPr>
          <a:xfrm>
            <a:off x="2880360" y="2679192"/>
            <a:ext cx="1417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JACK /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97680" y="3017520"/>
            <a:ext cx="1188720" cy="0"/>
          </a:xfrm>
          <a:prstGeom prst="line">
            <a:avLst/>
          </a:prstGeom>
          <a:noFill/>
          <a:ln w="31750">
            <a:solidFill>
              <a:srgbClr val="1E467D"/>
            </a:solidFill>
            <a:prstDash val="solid"/>
            <a:tail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12" name="Shape 10"/>
          <p:cNvSpPr/>
          <p:nvPr/>
        </p:nvSpPr>
        <p:spPr>
          <a:xfrm>
            <a:off x="5623560" y="2743200"/>
            <a:ext cx="1143000" cy="548640"/>
          </a:xfrm>
          <a:prstGeom prst="roundRect">
            <a:avLst/>
          </a:prstGeom>
          <a:solidFill>
            <a:srgbClr val="E8F5EF"/>
          </a:solidFill>
          <a:ln w="1905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3" name="Text 11"/>
          <p:cNvSpPr/>
          <p:nvPr/>
        </p:nvSpPr>
        <p:spPr>
          <a:xfrm>
            <a:off x="5623560" y="27889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00" y="168249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4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Jumper installed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611880" y="2596896"/>
            <a:ext cx="0" cy="0"/>
          </a:xfrm>
          <a:prstGeom prst="line">
            <a:avLst/>
          </a:prstGeom>
          <a:noFill/>
          <a:ln w="25400">
            <a:solidFill>
              <a:srgbClr val="1E467D"/>
            </a:solidFill>
            <a:prstDash val="solid"/>
            <a:tailEnd type="none"/>
          </a:ln>
        </p:spPr>
        <p:txBody>
          <a:bodyPr/>
          <a:lstStyle/>
          <a:p>
            <a:endParaRPr lang="cs-CZ"/>
          </a:p>
        </p:txBody>
      </p:sp>
      <p:sp>
        <p:nvSpPr>
          <p:cNvPr id="16" name="Shape 14"/>
          <p:cNvSpPr/>
          <p:nvPr/>
        </p:nvSpPr>
        <p:spPr>
          <a:xfrm>
            <a:off x="3611880" y="2057400"/>
            <a:ext cx="1188720" cy="0"/>
          </a:xfrm>
          <a:prstGeom prst="line">
            <a:avLst/>
          </a:prstGeom>
          <a:noFill/>
          <a:ln w="25400">
            <a:solidFill>
              <a:srgbClr val="1E467D"/>
            </a:solidFill>
            <a:prstDash val="solid"/>
            <a:tailEnd type="none"/>
          </a:ln>
        </p:spPr>
        <p:txBody>
          <a:bodyPr/>
          <a:lstStyle/>
          <a:p>
            <a:endParaRPr lang="cs-CZ"/>
          </a:p>
        </p:txBody>
      </p:sp>
      <p:sp>
        <p:nvSpPr>
          <p:cNvPr id="17" name="Shape 15"/>
          <p:cNvSpPr/>
          <p:nvPr/>
        </p:nvSpPr>
        <p:spPr>
          <a:xfrm>
            <a:off x="4800600" y="2057400"/>
            <a:ext cx="0" cy="539496"/>
          </a:xfrm>
          <a:prstGeom prst="line">
            <a:avLst/>
          </a:prstGeom>
          <a:noFill/>
          <a:ln w="25400">
            <a:solidFill>
              <a:srgbClr val="1E467D"/>
            </a:solidFill>
            <a:prstDash val="solid"/>
            <a:tail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18" name="Shape 16"/>
          <p:cNvSpPr/>
          <p:nvPr/>
        </p:nvSpPr>
        <p:spPr>
          <a:xfrm>
            <a:off x="3703320" y="4160520"/>
            <a:ext cx="1280160" cy="548640"/>
          </a:xfrm>
          <a:prstGeom prst="roundRect">
            <a:avLst/>
          </a:prstGeom>
          <a:solidFill>
            <a:srgbClr val="F9E7C7"/>
          </a:solidFill>
          <a:ln w="1905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9" name="Text 17"/>
          <p:cNvSpPr/>
          <p:nvPr/>
        </p:nvSpPr>
        <p:spPr>
          <a:xfrm>
            <a:off x="3703320" y="42062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11880" y="3401568"/>
            <a:ext cx="0" cy="758952"/>
          </a:xfrm>
          <a:prstGeom prst="line">
            <a:avLst/>
          </a:prstGeom>
          <a:noFill/>
          <a:ln w="25400">
            <a:solidFill>
              <a:srgbClr val="B7791F"/>
            </a:solidFill>
            <a:prstDash val="solid"/>
            <a:tail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21" name="Text 19"/>
          <p:cNvSpPr/>
          <p:nvPr/>
        </p:nvSpPr>
        <p:spPr>
          <a:xfrm>
            <a:off x="7360920" y="1508760"/>
            <a:ext cx="3840480" cy="2148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Options: 2-port coax jumper, removable shunt, or board-to-board RF cable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Excellent passive linearity and power handling when well matched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Connector launch and repeated mating dominate performance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keyed access, ESD handling, strain relief, and a defined torque/process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360920" y="4572000"/>
            <a:ext cx="3794760" cy="713232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B7CDE4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3" name="Text 21"/>
          <p:cNvSpPr/>
          <p:nvPr/>
        </p:nvSpPr>
        <p:spPr>
          <a:xfrm>
            <a:off x="7470648" y="4645152"/>
            <a:ext cx="3575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4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fit: occasional field or lab switching where the RF path must be physically obvious.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30" dirty="0">
                <a:solidFill>
                  <a:srgbClr val="1E4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| ACTIVE SELECTION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3: an RF switch is the cleanest repeatable 1:2 selector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921240" y="393192"/>
            <a:ext cx="1764792" cy="265176"/>
          </a:xfrm>
          <a:prstGeom prst="roundRect">
            <a:avLst/>
          </a:prstGeom>
          <a:solidFill>
            <a:srgbClr val="163458"/>
          </a:solidFill>
          <a:ln w="12700">
            <a:solidFill>
              <a:srgbClr val="16345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/>
          <p:nvPr/>
        </p:nvSpPr>
        <p:spPr>
          <a:xfrm>
            <a:off x="9921240" y="406908"/>
            <a:ext cx="1764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DEFAULT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2743200"/>
            <a:ext cx="1097280" cy="548640"/>
          </a:xfrm>
          <a:prstGeom prst="roundRect">
            <a:avLst/>
          </a:prstGeom>
          <a:solidFill>
            <a:srgbClr val="EAF2FB"/>
          </a:solidFill>
          <a:ln w="19050">
            <a:solidFill>
              <a:srgbClr val="1E467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Text 5"/>
          <p:cNvSpPr/>
          <p:nvPr/>
        </p:nvSpPr>
        <p:spPr>
          <a:xfrm>
            <a:off x="594360" y="27889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 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691640" y="3017520"/>
            <a:ext cx="1051560" cy="0"/>
          </a:xfrm>
          <a:prstGeom prst="line">
            <a:avLst/>
          </a:prstGeom>
          <a:noFill/>
          <a:ln w="31750">
            <a:solidFill>
              <a:srgbClr val="1E467D"/>
            </a:solidFill>
            <a:prstDash val="solid"/>
            <a:tail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9" name="Shape 7"/>
          <p:cNvSpPr/>
          <p:nvPr/>
        </p:nvSpPr>
        <p:spPr>
          <a:xfrm>
            <a:off x="2834640" y="2587752"/>
            <a:ext cx="1554480" cy="859536"/>
          </a:xfrm>
          <a:prstGeom prst="roundRect">
            <a:avLst/>
          </a:prstGeom>
          <a:solidFill>
            <a:srgbClr val="1E467D"/>
          </a:solidFill>
          <a:ln w="19050">
            <a:solidFill>
              <a:srgbClr val="1E467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Text 8"/>
          <p:cNvSpPr/>
          <p:nvPr/>
        </p:nvSpPr>
        <p:spPr>
          <a:xfrm>
            <a:off x="2834640" y="2633472"/>
            <a:ext cx="1554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SPDT RF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36392" y="35661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11880" y="3447288"/>
            <a:ext cx="0" cy="594360"/>
          </a:xfrm>
          <a:prstGeom prst="line">
            <a:avLst/>
          </a:prstGeom>
          <a:noFill/>
          <a:ln w="19050">
            <a:solidFill>
              <a:srgbClr val="667085"/>
            </a:solidFill>
            <a:prstDash val="solid"/>
            <a:tail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13" name="Shape 11"/>
          <p:cNvSpPr/>
          <p:nvPr/>
        </p:nvSpPr>
        <p:spPr>
          <a:xfrm>
            <a:off x="4389120" y="3017520"/>
            <a:ext cx="1234440" cy="0"/>
          </a:xfrm>
          <a:prstGeom prst="line">
            <a:avLst/>
          </a:prstGeom>
          <a:noFill/>
          <a:ln w="31750">
            <a:solidFill>
              <a:srgbClr val="2E7D5B"/>
            </a:solidFill>
            <a:prstDash val="solid"/>
            <a:tail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14" name="Shape 12"/>
          <p:cNvSpPr/>
          <p:nvPr/>
        </p:nvSpPr>
        <p:spPr>
          <a:xfrm>
            <a:off x="4389120" y="3017520"/>
            <a:ext cx="1234440" cy="868680"/>
          </a:xfrm>
          <a:prstGeom prst="line">
            <a:avLst/>
          </a:prstGeom>
          <a:noFill/>
          <a:ln w="31750">
            <a:solidFill>
              <a:srgbClr val="B7791F"/>
            </a:solidFill>
            <a:prstDash val="solid"/>
            <a:tail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15" name="Shape 13"/>
          <p:cNvSpPr/>
          <p:nvPr/>
        </p:nvSpPr>
        <p:spPr>
          <a:xfrm>
            <a:off x="5806440" y="1783080"/>
            <a:ext cx="1188720" cy="548640"/>
          </a:xfrm>
          <a:prstGeom prst="roundRect">
            <a:avLst/>
          </a:prstGeom>
          <a:solidFill>
            <a:srgbClr val="E8F5EF"/>
          </a:solidFill>
          <a:ln w="1905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6" name="Text 14"/>
          <p:cNvSpPr/>
          <p:nvPr/>
        </p:nvSpPr>
        <p:spPr>
          <a:xfrm>
            <a:off x="5806440" y="18288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806440" y="3611880"/>
            <a:ext cx="1188720" cy="548640"/>
          </a:xfrm>
          <a:prstGeom prst="roundRect">
            <a:avLst/>
          </a:prstGeom>
          <a:solidFill>
            <a:srgbClr val="F9E7C7"/>
          </a:solidFill>
          <a:ln w="1905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8" name="Text 16"/>
          <p:cNvSpPr/>
          <p:nvPr/>
        </p:nvSpPr>
        <p:spPr>
          <a:xfrm>
            <a:off x="5806440" y="36576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26680" y="1417320"/>
            <a:ext cx="3429000" cy="2423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SPDT: low bill of materials, finite isolation, control sequencing required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Reflective vs absorptive: decide how the unused throw is terminated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switch family for 12 GHz, not just “microwave capable”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insertion loss, isolation, P1dB / IP3, ESD, control voltage, and switching lifetime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680960" y="4572000"/>
            <a:ext cx="3520440" cy="777240"/>
          </a:xfrm>
          <a:prstGeom prst="roundRect">
            <a:avLst/>
          </a:prstGeom>
          <a:solidFill>
            <a:srgbClr val="163458"/>
          </a:solidFill>
          <a:ln w="12700">
            <a:solidFill>
              <a:srgbClr val="16345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1" name="Text 19"/>
          <p:cNvSpPr/>
          <p:nvPr/>
        </p:nvSpPr>
        <p:spPr>
          <a:xfrm>
            <a:off x="7790688" y="4645152"/>
            <a:ext cx="330098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architecture for a production product: place the switch at the branch point and keep both routes 50 ohm.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30" dirty="0">
                <a:solidFill>
                  <a:srgbClr val="1E4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| OTHER ARCHITECTURES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4: relays, MEMS, and external instruments trade speed for RF quality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921240" y="393192"/>
            <a:ext cx="1764792" cy="265176"/>
          </a:xfrm>
          <a:prstGeom prst="roundRect">
            <a:avLst/>
          </a:prstGeom>
          <a:solidFill>
            <a:srgbClr val="163458"/>
          </a:solidFill>
          <a:ln w="12700">
            <a:solidFill>
              <a:srgbClr val="16345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/>
          <p:nvPr/>
        </p:nvSpPr>
        <p:spPr>
          <a:xfrm>
            <a:off x="9921240" y="406908"/>
            <a:ext cx="1764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USE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1554480" cy="438912"/>
          </a:xfrm>
          <a:prstGeom prst="roundRect">
            <a:avLst/>
          </a:prstGeom>
          <a:solidFill>
            <a:srgbClr val="163458"/>
          </a:solidFill>
          <a:ln w="12700">
            <a:solidFill>
              <a:srgbClr val="16345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Text 5"/>
          <p:cNvSpPr/>
          <p:nvPr/>
        </p:nvSpPr>
        <p:spPr>
          <a:xfrm>
            <a:off x="612648" y="1399032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148840" y="1325880"/>
            <a:ext cx="2697480" cy="438912"/>
          </a:xfrm>
          <a:prstGeom prst="roundRect">
            <a:avLst/>
          </a:prstGeom>
          <a:solidFill>
            <a:srgbClr val="163458"/>
          </a:solidFill>
          <a:ln w="12700">
            <a:solidFill>
              <a:srgbClr val="16345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9" name="Text 7"/>
          <p:cNvSpPr/>
          <p:nvPr/>
        </p:nvSpPr>
        <p:spPr>
          <a:xfrm>
            <a:off x="2258568" y="1399032"/>
            <a:ext cx="2478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 strength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983480" y="1325880"/>
            <a:ext cx="2468880" cy="438912"/>
          </a:xfrm>
          <a:prstGeom prst="roundRect">
            <a:avLst/>
          </a:prstGeom>
          <a:solidFill>
            <a:srgbClr val="163458"/>
          </a:solidFill>
          <a:ln w="12700">
            <a:solidFill>
              <a:srgbClr val="16345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Text 9"/>
          <p:cNvSpPr/>
          <p:nvPr/>
        </p:nvSpPr>
        <p:spPr>
          <a:xfrm>
            <a:off x="5093208" y="1399032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penalty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589520" y="1325880"/>
            <a:ext cx="4069080" cy="438912"/>
          </a:xfrm>
          <a:prstGeom prst="roundRect">
            <a:avLst/>
          </a:prstGeom>
          <a:solidFill>
            <a:srgbClr val="163458"/>
          </a:solidFill>
          <a:ln w="12700">
            <a:solidFill>
              <a:srgbClr val="16345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3" name="Text 11"/>
          <p:cNvSpPr/>
          <p:nvPr/>
        </p:nvSpPr>
        <p:spPr>
          <a:xfrm>
            <a:off x="7699248" y="1399032"/>
            <a:ext cx="3849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fit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1828800"/>
            <a:ext cx="1554480" cy="658368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5" name="Text 13"/>
          <p:cNvSpPr/>
          <p:nvPr/>
        </p:nvSpPr>
        <p:spPr>
          <a:xfrm>
            <a:off x="612648" y="1901952"/>
            <a:ext cx="1335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Electromechanical relay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148840" y="1828800"/>
            <a:ext cx="2697480" cy="658368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7" name="Text 15"/>
          <p:cNvSpPr/>
          <p:nvPr/>
        </p:nvSpPr>
        <p:spPr>
          <a:xfrm>
            <a:off x="2258568" y="1901952"/>
            <a:ext cx="2478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good isolation / linearity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983480" y="1828800"/>
            <a:ext cx="2468880" cy="658368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9" name="Text 17"/>
          <p:cNvSpPr/>
          <p:nvPr/>
        </p:nvSpPr>
        <p:spPr>
          <a:xfrm>
            <a:off x="5093208" y="1901952"/>
            <a:ext cx="22494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Slow; wear; coil drive; size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589520" y="1828800"/>
            <a:ext cx="4069080" cy="658368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1" name="Text 19"/>
          <p:cNvSpPr/>
          <p:nvPr/>
        </p:nvSpPr>
        <p:spPr>
          <a:xfrm>
            <a:off x="7699248" y="1901952"/>
            <a:ext cx="38496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Power-off state, high isolation, low switching count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2615184"/>
            <a:ext cx="1554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3" name="Text 21"/>
          <p:cNvSpPr/>
          <p:nvPr/>
        </p:nvSpPr>
        <p:spPr>
          <a:xfrm>
            <a:off x="612648" y="2688336"/>
            <a:ext cx="1335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 MEMS switch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148840" y="2615184"/>
            <a:ext cx="2697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5" name="Text 23"/>
          <p:cNvSpPr/>
          <p:nvPr/>
        </p:nvSpPr>
        <p:spPr>
          <a:xfrm>
            <a:off x="2258568" y="2688336"/>
            <a:ext cx="2478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loss; high linearity; low power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983480" y="2615184"/>
            <a:ext cx="24688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7" name="Text 25"/>
          <p:cNvSpPr/>
          <p:nvPr/>
        </p:nvSpPr>
        <p:spPr>
          <a:xfrm>
            <a:off x="5093208" y="2688336"/>
            <a:ext cx="22494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Specialized; control/packaging; slower than IC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589520" y="2615184"/>
            <a:ext cx="40690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9" name="Text 27"/>
          <p:cNvSpPr/>
          <p:nvPr/>
        </p:nvSpPr>
        <p:spPr>
          <a:xfrm>
            <a:off x="7699248" y="2688336"/>
            <a:ext cx="38496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High-performance instrumentation or niche products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02920" y="3401568"/>
            <a:ext cx="1554480" cy="658368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1" name="Text 29"/>
          <p:cNvSpPr/>
          <p:nvPr/>
        </p:nvSpPr>
        <p:spPr>
          <a:xfrm>
            <a:off x="612648" y="3474720"/>
            <a:ext cx="1335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Coaxial RF switch box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2148840" y="3401568"/>
            <a:ext cx="2697480" cy="658368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3" name="Text 31"/>
          <p:cNvSpPr/>
          <p:nvPr/>
        </p:nvSpPr>
        <p:spPr>
          <a:xfrm>
            <a:off x="2258568" y="3474720"/>
            <a:ext cx="2478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Excellent connectorized RF; easy debug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983480" y="3401568"/>
            <a:ext cx="2468880" cy="658368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5" name="Text 33"/>
          <p:cNvSpPr/>
          <p:nvPr/>
        </p:nvSpPr>
        <p:spPr>
          <a:xfrm>
            <a:off x="5093208" y="3474720"/>
            <a:ext cx="22494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Cost, volume, external wiring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589520" y="3401568"/>
            <a:ext cx="4069080" cy="658368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7" name="Text 35"/>
          <p:cNvSpPr/>
          <p:nvPr/>
        </p:nvSpPr>
        <p:spPr>
          <a:xfrm>
            <a:off x="7699248" y="3474720"/>
            <a:ext cx="38496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fixture, characterization, prototype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02920" y="4187952"/>
            <a:ext cx="1554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9" name="Text 37"/>
          <p:cNvSpPr/>
          <p:nvPr/>
        </p:nvSpPr>
        <p:spPr>
          <a:xfrm>
            <a:off x="612648" y="4261104"/>
            <a:ext cx="1335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Probe / pogo / VNA fixture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2148840" y="4187952"/>
            <a:ext cx="2697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1" name="Text 39"/>
          <p:cNvSpPr/>
          <p:nvPr/>
        </p:nvSpPr>
        <p:spPr>
          <a:xfrm>
            <a:off x="2258568" y="4261104"/>
            <a:ext cx="2478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permanent connector on product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983480" y="4187952"/>
            <a:ext cx="24688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3" name="Text 41"/>
          <p:cNvSpPr/>
          <p:nvPr/>
        </p:nvSpPr>
        <p:spPr>
          <a:xfrm>
            <a:off x="5093208" y="4261104"/>
            <a:ext cx="22494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Repeatability, contact force, calibration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589520" y="4187952"/>
            <a:ext cx="40690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5" name="Text 43"/>
          <p:cNvSpPr/>
          <p:nvPr/>
        </p:nvSpPr>
        <p:spPr>
          <a:xfrm>
            <a:off x="7699248" y="4261104"/>
            <a:ext cx="38496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Manufacturing test, not normal operation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40080" y="53492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relay can be the right answer when the RF budget is tight and switching is infrequent. An IC switch is usually the better product compromise.</a:t>
            </a:r>
            <a:endParaRPr lang="en-US" sz="1600" dirty="0"/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30" dirty="0">
                <a:solidFill>
                  <a:srgbClr val="1E4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| NON-INVASIVE TEST ACCESS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test connector must monitor, do not switch the main path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921240" y="393192"/>
            <a:ext cx="1764792" cy="265176"/>
          </a:xfrm>
          <a:prstGeom prst="roundRect">
            <a:avLst/>
          </a:prstGeom>
          <a:solidFill>
            <a:srgbClr val="163458"/>
          </a:solidFill>
          <a:ln w="12700">
            <a:solidFill>
              <a:srgbClr val="16345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/>
          <p:nvPr/>
        </p:nvSpPr>
        <p:spPr>
          <a:xfrm>
            <a:off x="9921240" y="406908"/>
            <a:ext cx="1764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2743200"/>
            <a:ext cx="1097280" cy="548640"/>
          </a:xfrm>
          <a:prstGeom prst="roundRect">
            <a:avLst/>
          </a:prstGeom>
          <a:solidFill>
            <a:srgbClr val="EAF2FB"/>
          </a:solidFill>
          <a:ln w="19050">
            <a:solidFill>
              <a:srgbClr val="1E467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Text 5"/>
          <p:cNvSpPr/>
          <p:nvPr/>
        </p:nvSpPr>
        <p:spPr>
          <a:xfrm>
            <a:off x="594360" y="27889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 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691640" y="3017520"/>
            <a:ext cx="1234440" cy="0"/>
          </a:xfrm>
          <a:prstGeom prst="line">
            <a:avLst/>
          </a:prstGeom>
          <a:noFill/>
          <a:ln w="31750">
            <a:solidFill>
              <a:srgbClr val="1E467D"/>
            </a:solidFill>
            <a:prstDash val="solid"/>
            <a:tail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9" name="Shape 7"/>
          <p:cNvSpPr/>
          <p:nvPr/>
        </p:nvSpPr>
        <p:spPr>
          <a:xfrm>
            <a:off x="3063240" y="2578608"/>
            <a:ext cx="1691640" cy="877824"/>
          </a:xfrm>
          <a:prstGeom prst="roundRect">
            <a:avLst/>
          </a:prstGeom>
          <a:solidFill>
            <a:srgbClr val="1E467D"/>
          </a:solidFill>
          <a:ln w="19050">
            <a:solidFill>
              <a:srgbClr val="1E467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Text 8"/>
          <p:cNvSpPr/>
          <p:nvPr/>
        </p:nvSpPr>
        <p:spPr>
          <a:xfrm>
            <a:off x="3063240" y="2624328"/>
            <a:ext cx="1691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DIRECTIONAL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COUPLER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3017520"/>
            <a:ext cx="1051560" cy="0"/>
          </a:xfrm>
          <a:prstGeom prst="line">
            <a:avLst/>
          </a:prstGeom>
          <a:noFill/>
          <a:ln w="31750">
            <a:solidFill>
              <a:srgbClr val="2E7D5B"/>
            </a:solidFill>
            <a:prstDash val="solid"/>
            <a:tail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12" name="Shape 10"/>
          <p:cNvSpPr/>
          <p:nvPr/>
        </p:nvSpPr>
        <p:spPr>
          <a:xfrm>
            <a:off x="5989320" y="2743200"/>
            <a:ext cx="1143000" cy="548640"/>
          </a:xfrm>
          <a:prstGeom prst="roundRect">
            <a:avLst/>
          </a:prstGeom>
          <a:solidFill>
            <a:srgbClr val="E8F5EF"/>
          </a:solidFill>
          <a:ln w="1905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3" name="Text 11"/>
          <p:cNvSpPr/>
          <p:nvPr/>
        </p:nvSpPr>
        <p:spPr>
          <a:xfrm>
            <a:off x="5989320" y="27889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913632" y="3456432"/>
            <a:ext cx="0" cy="704088"/>
          </a:xfrm>
          <a:prstGeom prst="line">
            <a:avLst/>
          </a:prstGeom>
          <a:noFill/>
          <a:ln w="27940">
            <a:solidFill>
              <a:srgbClr val="B7791F"/>
            </a:solidFill>
            <a:prstDash val="solid"/>
            <a:tail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15" name="Shape 13"/>
          <p:cNvSpPr/>
          <p:nvPr/>
        </p:nvSpPr>
        <p:spPr>
          <a:xfrm>
            <a:off x="3273552" y="4224528"/>
            <a:ext cx="1280160" cy="548640"/>
          </a:xfrm>
          <a:prstGeom prst="roundRect">
            <a:avLst/>
          </a:prstGeom>
          <a:solidFill>
            <a:srgbClr val="F9E7C7"/>
          </a:solidFill>
          <a:ln w="1905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6" name="Text 14"/>
          <p:cNvSpPr/>
          <p:nvPr/>
        </p:nvSpPr>
        <p:spPr>
          <a:xfrm>
            <a:off x="3273552" y="427024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85800" y="1417320"/>
            <a:ext cx="2194560" cy="502920"/>
          </a:xfrm>
          <a:prstGeom prst="roundRect">
            <a:avLst/>
          </a:prstGeom>
          <a:solidFill>
            <a:srgbClr val="E8F5EF"/>
          </a:solidFill>
          <a:ln w="12700">
            <a:solidFill>
              <a:srgbClr val="9AC9B1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8" name="Text 16"/>
          <p:cNvSpPr/>
          <p:nvPr/>
        </p:nvSpPr>
        <p:spPr>
          <a:xfrm>
            <a:off x="795528" y="1490472"/>
            <a:ext cx="197510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Coupled sample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35240" y="1554480"/>
            <a:ext cx="3566160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signal remains connected to NEXT in every state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Coupling factor sets test-port power and measurement dynamic range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switch or attenuator at TEST if multiple instruments share the port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Terminate unused test paths with a good 50 ohm load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543800" y="4617720"/>
            <a:ext cx="3657600" cy="786384"/>
          </a:xfrm>
          <a:prstGeom prst="roundRect">
            <a:avLst/>
          </a:prstGeom>
          <a:solidFill>
            <a:srgbClr val="163458"/>
          </a:solidFill>
          <a:ln w="12700">
            <a:solidFill>
              <a:srgbClr val="16345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1" name="Text 19"/>
          <p:cNvSpPr/>
          <p:nvPr/>
        </p:nvSpPr>
        <p:spPr>
          <a:xfrm>
            <a:off x="7653528" y="4690872"/>
            <a:ext cx="3438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this when "test" means observe, not replace. It avoids interrupting the system path, but adds permanent insertion loss and a coupler footprint.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30" dirty="0">
                <a:solidFill>
                  <a:srgbClr val="1E4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| LAYOUT RULES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RF layout determines whether the chosen topology survives 12 GHz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921240" y="393192"/>
            <a:ext cx="1764792" cy="265176"/>
          </a:xfrm>
          <a:prstGeom prst="roundRect">
            <a:avLst/>
          </a:prstGeom>
          <a:solidFill>
            <a:srgbClr val="163458"/>
          </a:solidFill>
          <a:ln w="12700">
            <a:solidFill>
              <a:srgbClr val="16345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/>
          <p:nvPr/>
        </p:nvSpPr>
        <p:spPr>
          <a:xfrm>
            <a:off x="9921240" y="406908"/>
            <a:ext cx="1764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 IMPLEMENTATION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1325880"/>
            <a:ext cx="457200" cy="502920"/>
          </a:xfrm>
          <a:prstGeom prst="roundRect">
            <a:avLst/>
          </a:prstGeom>
          <a:solidFill>
            <a:srgbClr val="1E467D"/>
          </a:solidFill>
          <a:ln w="12700">
            <a:solidFill>
              <a:srgbClr val="1E467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Text 5"/>
          <p:cNvSpPr/>
          <p:nvPr/>
        </p:nvSpPr>
        <p:spPr>
          <a:xfrm>
            <a:off x="795528" y="1399032"/>
            <a:ext cx="23774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71600" y="135331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cleanly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520440" y="1344168"/>
            <a:ext cx="740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Controlled-impedance geometry; short pad transitions; connector footprint from the vendor.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2148840"/>
            <a:ext cx="457200" cy="502920"/>
          </a:xfrm>
          <a:prstGeom prst="roundRect">
            <a:avLst/>
          </a:prstGeom>
          <a:solidFill>
            <a:srgbClr val="1E467D"/>
          </a:solidFill>
          <a:ln w="12700">
            <a:solidFill>
              <a:srgbClr val="1E467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Text 9"/>
          <p:cNvSpPr/>
          <p:nvPr/>
        </p:nvSpPr>
        <p:spPr>
          <a:xfrm>
            <a:off x="795528" y="2221992"/>
            <a:ext cx="23774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71600" y="217627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branch compact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0440" y="2167128"/>
            <a:ext cx="740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switch / link at the decision node. Minimize the open stub to the inactive route.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" y="2971800"/>
            <a:ext cx="457200" cy="502920"/>
          </a:xfrm>
          <a:prstGeom prst="roundRect">
            <a:avLst/>
          </a:prstGeom>
          <a:solidFill>
            <a:srgbClr val="1E467D"/>
          </a:solidFill>
          <a:ln w="12700">
            <a:solidFill>
              <a:srgbClr val="1E467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5" name="Text 13"/>
          <p:cNvSpPr/>
          <p:nvPr/>
        </p:nvSpPr>
        <p:spPr>
          <a:xfrm>
            <a:off x="795528" y="3044952"/>
            <a:ext cx="23774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371600" y="29992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the return path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20440" y="2990088"/>
            <a:ext cx="740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reference plane; via fence around the RF line; avoid unnecessary layer changes.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85800" y="3794760"/>
            <a:ext cx="457200" cy="502920"/>
          </a:xfrm>
          <a:prstGeom prst="roundRect">
            <a:avLst/>
          </a:prstGeom>
          <a:solidFill>
            <a:srgbClr val="1E467D"/>
          </a:solidFill>
          <a:ln w="12700">
            <a:solidFill>
              <a:srgbClr val="1E467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9" name="Text 17"/>
          <p:cNvSpPr/>
          <p:nvPr/>
        </p:nvSpPr>
        <p:spPr>
          <a:xfrm>
            <a:off x="795528" y="3867912"/>
            <a:ext cx="23774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371600" y="382219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for calibration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520440" y="3813048"/>
            <a:ext cx="740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test connector and calibration reference plane where the VNA can actually de-embed to.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85800" y="4617720"/>
            <a:ext cx="457200" cy="502920"/>
          </a:xfrm>
          <a:prstGeom prst="roundRect">
            <a:avLst/>
          </a:prstGeom>
          <a:solidFill>
            <a:srgbClr val="1E467D"/>
          </a:solidFill>
          <a:ln w="12700">
            <a:solidFill>
              <a:srgbClr val="1E467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3" name="Text 21"/>
          <p:cNvSpPr/>
          <p:nvPr/>
        </p:nvSpPr>
        <p:spPr>
          <a:xfrm>
            <a:off x="795528" y="4690872"/>
            <a:ext cx="23774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371600" y="46451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mechanics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520440" y="4636008"/>
            <a:ext cx="740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Connector torque, mating cycles, ESD, cable bend radius, and access direction are RF requirements.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85800" y="5623560"/>
            <a:ext cx="10561320" cy="502920"/>
          </a:xfrm>
          <a:prstGeom prst="roundRect">
            <a:avLst/>
          </a:prstGeom>
          <a:solidFill>
            <a:srgbClr val="FFF5E5"/>
          </a:solidFill>
          <a:ln w="12700">
            <a:solidFill>
              <a:srgbClr val="E8C57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7" name="Text 25"/>
          <p:cNvSpPr/>
          <p:nvPr/>
        </p:nvSpPr>
        <p:spPr>
          <a:xfrm>
            <a:off x="795528" y="5696712"/>
            <a:ext cx="103418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12 GHz, “short” is an RF statement: compare physical length to guided wavelength and simulate or measure the launch.</a:t>
            </a:r>
            <a:endParaRPr lang="en-US" sz="15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30" dirty="0">
                <a:solidFill>
                  <a:srgbClr val="1E4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| TRADEOFF MATRIX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the topology by the dominant constraint, not by habit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921240" y="393192"/>
            <a:ext cx="1764792" cy="265176"/>
          </a:xfrm>
          <a:prstGeom prst="roundRect">
            <a:avLst/>
          </a:prstGeom>
          <a:solidFill>
            <a:srgbClr val="163458"/>
          </a:solidFill>
          <a:ln w="12700">
            <a:solidFill>
              <a:srgbClr val="16345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/>
          <p:nvPr/>
        </p:nvSpPr>
        <p:spPr>
          <a:xfrm>
            <a:off x="9921240" y="406908"/>
            <a:ext cx="1764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GUIDE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1645920" cy="438912"/>
          </a:xfrm>
          <a:prstGeom prst="roundRect">
            <a:avLst/>
          </a:prstGeom>
          <a:solidFill>
            <a:srgbClr val="163458"/>
          </a:solidFill>
          <a:ln w="12700">
            <a:solidFill>
              <a:srgbClr val="16345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Text 5"/>
          <p:cNvSpPr/>
          <p:nvPr/>
        </p:nvSpPr>
        <p:spPr>
          <a:xfrm>
            <a:off x="612648" y="1353312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331720" y="1280160"/>
            <a:ext cx="2560320" cy="438912"/>
          </a:xfrm>
          <a:prstGeom prst="roundRect">
            <a:avLst/>
          </a:prstGeom>
          <a:solidFill>
            <a:srgbClr val="163458"/>
          </a:solidFill>
          <a:ln w="12700">
            <a:solidFill>
              <a:srgbClr val="16345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9" name="Text 7"/>
          <p:cNvSpPr/>
          <p:nvPr/>
        </p:nvSpPr>
        <p:spPr>
          <a:xfrm>
            <a:off x="2441448" y="1353312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Preferred architecture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74920" y="1280160"/>
            <a:ext cx="2971800" cy="438912"/>
          </a:xfrm>
          <a:prstGeom prst="roundRect">
            <a:avLst/>
          </a:prstGeom>
          <a:solidFill>
            <a:srgbClr val="163458"/>
          </a:solidFill>
          <a:ln w="12700">
            <a:solidFill>
              <a:srgbClr val="16345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Text 9"/>
          <p:cNvSpPr/>
          <p:nvPr/>
        </p:nvSpPr>
        <p:spPr>
          <a:xfrm>
            <a:off x="5184648" y="1353312"/>
            <a:ext cx="2752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0" y="1280160"/>
            <a:ext cx="3429000" cy="438912"/>
          </a:xfrm>
          <a:prstGeom prst="roundRect">
            <a:avLst/>
          </a:prstGeom>
          <a:solidFill>
            <a:srgbClr val="163458"/>
          </a:solidFill>
          <a:ln w="12700">
            <a:solidFill>
              <a:srgbClr val="16345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3" name="Text 11"/>
          <p:cNvSpPr/>
          <p:nvPr/>
        </p:nvSpPr>
        <p:spPr>
          <a:xfrm>
            <a:off x="8339328" y="1353312"/>
            <a:ext cx="3209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Watch-outs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1719072"/>
            <a:ext cx="1645920" cy="530352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5" name="Text 13"/>
          <p:cNvSpPr/>
          <p:nvPr/>
        </p:nvSpPr>
        <p:spPr>
          <a:xfrm>
            <a:off x="612648" y="1792224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Factory variant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331720" y="1719072"/>
            <a:ext cx="2560320" cy="530352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7" name="Text 15"/>
          <p:cNvSpPr/>
          <p:nvPr/>
        </p:nvSpPr>
        <p:spPr>
          <a:xfrm>
            <a:off x="2441448" y="1792224"/>
            <a:ext cx="2340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Solder link / 0 ohm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74920" y="1719072"/>
            <a:ext cx="2971800" cy="530352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9" name="Text 17"/>
          <p:cNvSpPr/>
          <p:nvPr/>
        </p:nvSpPr>
        <p:spPr>
          <a:xfrm>
            <a:off x="5184648" y="1792224"/>
            <a:ext cx="2752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Lowest cost and loss if route is fixed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229600" y="1719072"/>
            <a:ext cx="3429000" cy="530352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1" name="Text 19"/>
          <p:cNvSpPr/>
          <p:nvPr/>
        </p:nvSpPr>
        <p:spPr>
          <a:xfrm>
            <a:off x="8339328" y="1792224"/>
            <a:ext cx="3209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Rework and unused branch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02920" y="2340864"/>
            <a:ext cx="164592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3" name="Text 21"/>
          <p:cNvSpPr/>
          <p:nvPr/>
        </p:nvSpPr>
        <p:spPr>
          <a:xfrm>
            <a:off x="612648" y="2414016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Occasional service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331720" y="2340864"/>
            <a:ext cx="256032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5" name="Text 23"/>
          <p:cNvSpPr/>
          <p:nvPr/>
        </p:nvSpPr>
        <p:spPr>
          <a:xfrm>
            <a:off x="2441448" y="2414016"/>
            <a:ext cx="2340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Mechanical coax jumper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074920" y="2340864"/>
            <a:ext cx="29718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7" name="Text 25"/>
          <p:cNvSpPr/>
          <p:nvPr/>
        </p:nvSpPr>
        <p:spPr>
          <a:xfrm>
            <a:off x="5184648" y="2414016"/>
            <a:ext cx="2752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Visible, passive, easy to understand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229600" y="2340864"/>
            <a:ext cx="34290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9" name="Text 27"/>
          <p:cNvSpPr/>
          <p:nvPr/>
        </p:nvSpPr>
        <p:spPr>
          <a:xfrm>
            <a:off x="8339328" y="2414016"/>
            <a:ext cx="3209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Mating and connector launch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02920" y="2962656"/>
            <a:ext cx="1645920" cy="530352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1" name="Text 29"/>
          <p:cNvSpPr/>
          <p:nvPr/>
        </p:nvSpPr>
        <p:spPr>
          <a:xfrm>
            <a:off x="612648" y="3035808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Repeatable product switching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2331720" y="2962656"/>
            <a:ext cx="2560320" cy="530352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3" name="Text 31"/>
          <p:cNvSpPr/>
          <p:nvPr/>
        </p:nvSpPr>
        <p:spPr>
          <a:xfrm>
            <a:off x="2441448" y="3035808"/>
            <a:ext cx="2340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SPDT RF switch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074920" y="2962656"/>
            <a:ext cx="2971800" cy="530352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5" name="Text 33"/>
          <p:cNvSpPr/>
          <p:nvPr/>
        </p:nvSpPr>
        <p:spPr>
          <a:xfrm>
            <a:off x="5184648" y="3035808"/>
            <a:ext cx="2752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Fast, controlled, compact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229600" y="2962656"/>
            <a:ext cx="3429000" cy="530352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7" name="Text 35"/>
          <p:cNvSpPr/>
          <p:nvPr/>
        </p:nvSpPr>
        <p:spPr>
          <a:xfrm>
            <a:off x="8339328" y="3035808"/>
            <a:ext cx="3209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Loss, isolation, control state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02920" y="3584448"/>
            <a:ext cx="164592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9" name="Text 37"/>
          <p:cNvSpPr/>
          <p:nvPr/>
        </p:nvSpPr>
        <p:spPr>
          <a:xfrm>
            <a:off x="612648" y="3657600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Maximum isolation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2331720" y="3584448"/>
            <a:ext cx="256032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1" name="Text 39"/>
          <p:cNvSpPr/>
          <p:nvPr/>
        </p:nvSpPr>
        <p:spPr>
          <a:xfrm>
            <a:off x="2441448" y="3657600"/>
            <a:ext cx="2340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relay / coax switch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5074920" y="3584448"/>
            <a:ext cx="29718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3" name="Text 41"/>
          <p:cNvSpPr/>
          <p:nvPr/>
        </p:nvSpPr>
        <p:spPr>
          <a:xfrm>
            <a:off x="5184648" y="3657600"/>
            <a:ext cx="2752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off-state behavior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8229600" y="3584448"/>
            <a:ext cx="34290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5" name="Text 43"/>
          <p:cNvSpPr/>
          <p:nvPr/>
        </p:nvSpPr>
        <p:spPr>
          <a:xfrm>
            <a:off x="8339328" y="3657600"/>
            <a:ext cx="3209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Size, speed, wear, cost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502920" y="4206240"/>
            <a:ext cx="1645920" cy="530352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7" name="Text 45"/>
          <p:cNvSpPr/>
          <p:nvPr/>
        </p:nvSpPr>
        <p:spPr>
          <a:xfrm>
            <a:off x="612648" y="4279392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monitoring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2331720" y="4206240"/>
            <a:ext cx="2560320" cy="530352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9" name="Text 47"/>
          <p:cNvSpPr/>
          <p:nvPr/>
        </p:nvSpPr>
        <p:spPr>
          <a:xfrm>
            <a:off x="2441448" y="4279392"/>
            <a:ext cx="2340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Directional coupler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5074920" y="4206240"/>
            <a:ext cx="2971800" cy="530352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1" name="Text 49"/>
          <p:cNvSpPr/>
          <p:nvPr/>
        </p:nvSpPr>
        <p:spPr>
          <a:xfrm>
            <a:off x="5184648" y="4279392"/>
            <a:ext cx="2752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interruption of main path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8229600" y="4206240"/>
            <a:ext cx="3429000" cy="530352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3" name="Text 51"/>
          <p:cNvSpPr/>
          <p:nvPr/>
        </p:nvSpPr>
        <p:spPr>
          <a:xfrm>
            <a:off x="8339328" y="4279392"/>
            <a:ext cx="3209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Permanent loss and sample level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502920" y="4828032"/>
            <a:ext cx="164592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5" name="Text 53"/>
          <p:cNvSpPr/>
          <p:nvPr/>
        </p:nvSpPr>
        <p:spPr>
          <a:xfrm>
            <a:off x="612648" y="4901184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Manufacturing test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2331720" y="4828032"/>
            <a:ext cx="256032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7" name="Text 55"/>
          <p:cNvSpPr/>
          <p:nvPr/>
        </p:nvSpPr>
        <p:spPr>
          <a:xfrm>
            <a:off x="2441448" y="4901184"/>
            <a:ext cx="2340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Pogo / probe fixture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5074920" y="4828032"/>
            <a:ext cx="29718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9" name="Text 57"/>
          <p:cNvSpPr/>
          <p:nvPr/>
        </p:nvSpPr>
        <p:spPr>
          <a:xfrm>
            <a:off x="5184648" y="4901184"/>
            <a:ext cx="2752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product connector required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8229600" y="4828032"/>
            <a:ext cx="34290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1" name="Text 59"/>
          <p:cNvSpPr/>
          <p:nvPr/>
        </p:nvSpPr>
        <p:spPr>
          <a:xfrm>
            <a:off x="8339328" y="4901184"/>
            <a:ext cx="3209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repeatability and calibration</a:t>
            </a:r>
            <a:endParaRPr lang="en-US" sz="1150" dirty="0"/>
          </a:p>
        </p:txBody>
      </p:sp>
      <p:sp>
        <p:nvSpPr>
          <p:cNvPr id="6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30" dirty="0">
                <a:solidFill>
                  <a:srgbClr val="1E4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| RECOMMENDATION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practical baseline is an SPDT switch plus a connectorized test route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921240" y="393192"/>
            <a:ext cx="1764792" cy="265176"/>
          </a:xfrm>
          <a:prstGeom prst="roundRect">
            <a:avLst/>
          </a:prstGeom>
          <a:solidFill>
            <a:srgbClr val="163458"/>
          </a:solidFill>
          <a:ln w="12700">
            <a:solidFill>
              <a:srgbClr val="16345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/>
          <p:nvPr/>
        </p:nvSpPr>
        <p:spPr>
          <a:xfrm>
            <a:off x="9921240" y="406908"/>
            <a:ext cx="1764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DESIGN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2331720"/>
            <a:ext cx="1417320" cy="713232"/>
          </a:xfrm>
          <a:prstGeom prst="roundRect">
            <a:avLst/>
          </a:prstGeom>
          <a:solidFill>
            <a:srgbClr val="EAF2FB"/>
          </a:solidFill>
          <a:ln w="19050">
            <a:solidFill>
              <a:srgbClr val="1E467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Text 5"/>
          <p:cNvSpPr/>
          <p:nvPr/>
        </p:nvSpPr>
        <p:spPr>
          <a:xfrm>
            <a:off x="685800" y="2377440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103120" y="2688336"/>
            <a:ext cx="868680" cy="0"/>
          </a:xfrm>
          <a:prstGeom prst="line">
            <a:avLst/>
          </a:prstGeom>
          <a:noFill/>
          <a:ln w="31750">
            <a:solidFill>
              <a:srgbClr val="1E467D"/>
            </a:solidFill>
            <a:prstDash val="solid"/>
            <a:tail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9" name="Shape 7"/>
          <p:cNvSpPr/>
          <p:nvPr/>
        </p:nvSpPr>
        <p:spPr>
          <a:xfrm>
            <a:off x="3108960" y="2267712"/>
            <a:ext cx="1371600" cy="841248"/>
          </a:xfrm>
          <a:prstGeom prst="roundRect">
            <a:avLst/>
          </a:prstGeom>
          <a:solidFill>
            <a:srgbClr val="1E467D"/>
          </a:solidFill>
          <a:ln w="19050">
            <a:solidFill>
              <a:srgbClr val="1E467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Text 8"/>
          <p:cNvSpPr/>
          <p:nvPr/>
        </p:nvSpPr>
        <p:spPr>
          <a:xfrm>
            <a:off x="3108960" y="2313432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SPDT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GHz+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80560" y="2688336"/>
            <a:ext cx="1143000" cy="0"/>
          </a:xfrm>
          <a:prstGeom prst="line">
            <a:avLst/>
          </a:prstGeom>
          <a:noFill/>
          <a:ln w="31750">
            <a:solidFill>
              <a:srgbClr val="2E7D5B"/>
            </a:solidFill>
            <a:prstDash val="solid"/>
            <a:tail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12" name="Shape 10"/>
          <p:cNvSpPr/>
          <p:nvPr/>
        </p:nvSpPr>
        <p:spPr>
          <a:xfrm>
            <a:off x="4480560" y="2688336"/>
            <a:ext cx="1143000" cy="813816"/>
          </a:xfrm>
          <a:prstGeom prst="line">
            <a:avLst/>
          </a:prstGeom>
          <a:noFill/>
          <a:ln w="31750">
            <a:solidFill>
              <a:srgbClr val="B7791F"/>
            </a:solidFill>
            <a:prstDash val="solid"/>
            <a:tail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13" name="Shape 11"/>
          <p:cNvSpPr/>
          <p:nvPr/>
        </p:nvSpPr>
        <p:spPr>
          <a:xfrm>
            <a:off x="5806440" y="1517904"/>
            <a:ext cx="1600200" cy="713232"/>
          </a:xfrm>
          <a:prstGeom prst="roundRect">
            <a:avLst/>
          </a:prstGeom>
          <a:solidFill>
            <a:srgbClr val="E8F5EF"/>
          </a:solidFill>
          <a:ln w="1905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4" name="Text 12"/>
          <p:cNvSpPr/>
          <p:nvPr/>
        </p:nvSpPr>
        <p:spPr>
          <a:xfrm>
            <a:off x="5806440" y="1563624"/>
            <a:ext cx="1600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RF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806440" y="3154680"/>
            <a:ext cx="1600200" cy="713232"/>
          </a:xfrm>
          <a:prstGeom prst="roundRect">
            <a:avLst/>
          </a:prstGeom>
          <a:solidFill>
            <a:srgbClr val="F9E7C7"/>
          </a:solidFill>
          <a:ln w="1905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6" name="Text 14"/>
          <p:cNvSpPr/>
          <p:nvPr/>
        </p:nvSpPr>
        <p:spPr>
          <a:xfrm>
            <a:off x="5806440" y="3200400"/>
            <a:ext cx="1600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CONNECTOR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4023360"/>
            <a:ext cx="2468880" cy="749808"/>
          </a:xfrm>
          <a:prstGeom prst="roundRect">
            <a:avLst/>
          </a:prstGeom>
          <a:solidFill>
            <a:srgbClr val="163458"/>
          </a:solidFill>
          <a:ln w="12700">
            <a:solidFill>
              <a:srgbClr val="16345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8" name="Text 16"/>
          <p:cNvSpPr/>
          <p:nvPr/>
        </p:nvSpPr>
        <p:spPr>
          <a:xfrm>
            <a:off x="841248" y="4096512"/>
            <a:ext cx="22494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state: DIRECT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state: TEST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29600" y="1417320"/>
            <a:ext cx="2834640" cy="2423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 switch specified beyond 12 GHz with characterized S-parameters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both switch throws 50 ohm and route the test throw to a robust connector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break-before-make or make-before-break behavior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interlock / state indication so the tester knows which path is active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001000" y="4572000"/>
            <a:ext cx="3246120" cy="868680"/>
          </a:xfrm>
          <a:prstGeom prst="roundRect">
            <a:avLst/>
          </a:prstGeom>
          <a:solidFill>
            <a:srgbClr val="E8F5EF"/>
          </a:solidFill>
          <a:ln w="12700">
            <a:solidFill>
              <a:srgbClr val="9AC9B1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1" name="Text 19"/>
          <p:cNvSpPr/>
          <p:nvPr/>
        </p:nvSpPr>
        <p:spPr>
          <a:xfrm>
            <a:off x="8110728" y="4645152"/>
            <a:ext cx="302666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requirement is observation rather than substitution, replace the SPDT with a directional coupler and keep NEXT permanently connected.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30" dirty="0">
                <a:solidFill>
                  <a:srgbClr val="1E4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| VERIFICATION PLAN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must prove both RF performance and real-world usability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921240" y="393192"/>
            <a:ext cx="1764792" cy="265176"/>
          </a:xfrm>
          <a:prstGeom prst="roundRect">
            <a:avLst/>
          </a:prstGeom>
          <a:solidFill>
            <a:srgbClr val="163458"/>
          </a:solidFill>
          <a:ln w="12700">
            <a:solidFill>
              <a:srgbClr val="16345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/>
          <p:nvPr/>
        </p:nvSpPr>
        <p:spPr>
          <a:xfrm>
            <a:off x="9921240" y="406908"/>
            <a:ext cx="1764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CRITERIA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417320"/>
            <a:ext cx="502920" cy="502920"/>
          </a:xfrm>
          <a:prstGeom prst="roundRect">
            <a:avLst/>
          </a:prstGeom>
          <a:solidFill>
            <a:srgbClr val="1E467D"/>
          </a:solidFill>
          <a:ln w="12700">
            <a:solidFill>
              <a:srgbClr val="1E467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Text 5"/>
          <p:cNvSpPr/>
          <p:nvPr/>
        </p:nvSpPr>
        <p:spPr>
          <a:xfrm>
            <a:off x="704088" y="1490472"/>
            <a:ext cx="2834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210312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94360" y="2542032"/>
            <a:ext cx="1965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model of switch / link, pads, vias, connector launch, and inactive branch.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60320" y="1673352"/>
            <a:ext cx="274320" cy="0"/>
          </a:xfrm>
          <a:prstGeom prst="line">
            <a:avLst/>
          </a:prstGeom>
          <a:noFill/>
          <a:ln w="19050">
            <a:solidFill>
              <a:srgbClr val="D0D5DD"/>
            </a:solidFill>
            <a:prstDash val="solid"/>
            <a:tail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11" name="Shape 9"/>
          <p:cNvSpPr/>
          <p:nvPr/>
        </p:nvSpPr>
        <p:spPr>
          <a:xfrm>
            <a:off x="2880360" y="1417320"/>
            <a:ext cx="502920" cy="502920"/>
          </a:xfrm>
          <a:prstGeom prst="roundRect">
            <a:avLst/>
          </a:prstGeom>
          <a:solidFill>
            <a:srgbClr val="1E467D"/>
          </a:solidFill>
          <a:ln w="12700">
            <a:solidFill>
              <a:srgbClr val="1E467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2" name="Text 10"/>
          <p:cNvSpPr/>
          <p:nvPr/>
        </p:nvSpPr>
        <p:spPr>
          <a:xfrm>
            <a:off x="2990088" y="1490472"/>
            <a:ext cx="2834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880360" y="210312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880360" y="2542032"/>
            <a:ext cx="1965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VNA calibration at the intended reference plane; document adapters and de-embedding.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46320" y="1673352"/>
            <a:ext cx="274320" cy="0"/>
          </a:xfrm>
          <a:prstGeom prst="line">
            <a:avLst/>
          </a:prstGeom>
          <a:noFill/>
          <a:ln w="19050">
            <a:solidFill>
              <a:srgbClr val="D0D5DD"/>
            </a:solidFill>
            <a:prstDash val="solid"/>
            <a:tail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16" name="Shape 14"/>
          <p:cNvSpPr/>
          <p:nvPr/>
        </p:nvSpPr>
        <p:spPr>
          <a:xfrm>
            <a:off x="5166360" y="1417320"/>
            <a:ext cx="502920" cy="502920"/>
          </a:xfrm>
          <a:prstGeom prst="roundRect">
            <a:avLst/>
          </a:prstGeom>
          <a:solidFill>
            <a:srgbClr val="1E467D"/>
          </a:solidFill>
          <a:ln w="12700">
            <a:solidFill>
              <a:srgbClr val="1E467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7" name="Text 15"/>
          <p:cNvSpPr/>
          <p:nvPr/>
        </p:nvSpPr>
        <p:spPr>
          <a:xfrm>
            <a:off x="5276088" y="1490472"/>
            <a:ext cx="2834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166360" y="210312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166360" y="2542032"/>
            <a:ext cx="1965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S11 / S22, insertion loss, isolation, phase, and power handling across the full band.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132320" y="1673352"/>
            <a:ext cx="274320" cy="0"/>
          </a:xfrm>
          <a:prstGeom prst="line">
            <a:avLst/>
          </a:prstGeom>
          <a:noFill/>
          <a:ln w="19050">
            <a:solidFill>
              <a:srgbClr val="D0D5DD"/>
            </a:solidFill>
            <a:prstDash val="solid"/>
            <a:tail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21" name="Shape 19"/>
          <p:cNvSpPr/>
          <p:nvPr/>
        </p:nvSpPr>
        <p:spPr>
          <a:xfrm>
            <a:off x="7452360" y="1417320"/>
            <a:ext cx="502920" cy="502920"/>
          </a:xfrm>
          <a:prstGeom prst="roundRect">
            <a:avLst/>
          </a:prstGeom>
          <a:solidFill>
            <a:srgbClr val="1E467D"/>
          </a:solidFill>
          <a:ln w="12700">
            <a:solidFill>
              <a:srgbClr val="1E467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2" name="Text 20"/>
          <p:cNvSpPr/>
          <p:nvPr/>
        </p:nvSpPr>
        <p:spPr>
          <a:xfrm>
            <a:off x="7562088" y="1490472"/>
            <a:ext cx="2834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452360" y="210312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452360" y="2542032"/>
            <a:ext cx="1965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Mating cycles, torque, cable movement, temperature, vibration, ESD, and state transitions.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418320" y="1673352"/>
            <a:ext cx="274320" cy="0"/>
          </a:xfrm>
          <a:prstGeom prst="line">
            <a:avLst/>
          </a:prstGeom>
          <a:noFill/>
          <a:ln w="19050">
            <a:solidFill>
              <a:srgbClr val="D0D5DD"/>
            </a:solidFill>
            <a:prstDash val="solid"/>
            <a:tail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26" name="Shape 24"/>
          <p:cNvSpPr/>
          <p:nvPr/>
        </p:nvSpPr>
        <p:spPr>
          <a:xfrm>
            <a:off x="9738360" y="1417320"/>
            <a:ext cx="502920" cy="502920"/>
          </a:xfrm>
          <a:prstGeom prst="roundRect">
            <a:avLst/>
          </a:prstGeom>
          <a:solidFill>
            <a:srgbClr val="1E467D"/>
          </a:solidFill>
          <a:ln w="12700">
            <a:solidFill>
              <a:srgbClr val="1E467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7" name="Text 25"/>
          <p:cNvSpPr/>
          <p:nvPr/>
        </p:nvSpPr>
        <p:spPr>
          <a:xfrm>
            <a:off x="9848088" y="1490472"/>
            <a:ext cx="2834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738360" y="210312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9738360" y="2542032"/>
            <a:ext cx="1965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Freeze footprint, control truth table, connector process, acceptance limits, and test record.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85800" y="4754880"/>
            <a:ext cx="2331720" cy="502920"/>
          </a:xfrm>
          <a:prstGeom prst="roundRect">
            <a:avLst/>
          </a:prstGeom>
          <a:solidFill>
            <a:srgbClr val="163458"/>
          </a:solidFill>
          <a:ln w="12700">
            <a:solidFill>
              <a:srgbClr val="16345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1" name="Text 29"/>
          <p:cNvSpPr/>
          <p:nvPr/>
        </p:nvSpPr>
        <p:spPr>
          <a:xfrm>
            <a:off x="795528" y="4828032"/>
            <a:ext cx="21122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decision package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337560" y="4782312"/>
            <a:ext cx="7818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band | max loss | return loss | isolation | power | switching mode | mating life | environmental profile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31520" y="571500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4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 start with the SPDT baseline, then downgrade to a passive link only if the use case is truly configuration-only.</a:t>
            </a:r>
            <a:endParaRPr lang="en-US" sz="17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30" dirty="0">
                <a:solidFill>
                  <a:srgbClr val="1E4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| CLOSING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Takeaway: define "test" first, then choose the jumper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921240" y="393192"/>
            <a:ext cx="1764792" cy="265176"/>
          </a:xfrm>
          <a:prstGeom prst="roundRect">
            <a:avLst/>
          </a:prstGeom>
          <a:solidFill>
            <a:srgbClr val="163458"/>
          </a:solidFill>
          <a:ln w="12700">
            <a:solidFill>
              <a:srgbClr val="16345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/>
          <p:nvPr/>
        </p:nvSpPr>
        <p:spPr>
          <a:xfrm>
            <a:off x="9921240" y="406908"/>
            <a:ext cx="1764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77240" y="1325880"/>
            <a:ext cx="2331720" cy="502920"/>
          </a:xfrm>
          <a:prstGeom prst="roundRect">
            <a:avLst/>
          </a:prstGeom>
          <a:solidFill>
            <a:srgbClr val="163458"/>
          </a:solidFill>
          <a:ln w="12700">
            <a:solidFill>
              <a:srgbClr val="16345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Text 5"/>
          <p:cNvSpPr/>
          <p:nvPr/>
        </p:nvSpPr>
        <p:spPr>
          <a:xfrm>
            <a:off x="886968" y="1399032"/>
            <a:ext cx="21122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Replacement path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00400" y="1581912"/>
            <a:ext cx="594360" cy="0"/>
          </a:xfrm>
          <a:prstGeom prst="line">
            <a:avLst/>
          </a:prstGeom>
          <a:noFill/>
          <a:ln w="25400">
            <a:solidFill>
              <a:srgbClr val="1E467D"/>
            </a:solidFill>
            <a:prstDash val="solid"/>
            <a:tail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9" name="Shape 7"/>
          <p:cNvSpPr/>
          <p:nvPr/>
        </p:nvSpPr>
        <p:spPr>
          <a:xfrm>
            <a:off x="3977640" y="1325880"/>
            <a:ext cx="4023360" cy="502920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Text 8"/>
          <p:cNvSpPr/>
          <p:nvPr/>
        </p:nvSpPr>
        <p:spPr>
          <a:xfrm>
            <a:off x="4087368" y="1399032"/>
            <a:ext cx="380390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SPDT / relay / mechanical jumper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77240" y="2103120"/>
            <a:ext cx="2331720" cy="502920"/>
          </a:xfrm>
          <a:prstGeom prst="roundRect">
            <a:avLst/>
          </a:prstGeom>
          <a:solidFill>
            <a:srgbClr val="163458"/>
          </a:solidFill>
          <a:ln w="12700">
            <a:solidFill>
              <a:srgbClr val="16345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2" name="Text 10"/>
          <p:cNvSpPr/>
          <p:nvPr/>
        </p:nvSpPr>
        <p:spPr>
          <a:xfrm>
            <a:off x="886968" y="2176272"/>
            <a:ext cx="21122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path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200400" y="2359152"/>
            <a:ext cx="594360" cy="0"/>
          </a:xfrm>
          <a:prstGeom prst="line">
            <a:avLst/>
          </a:prstGeom>
          <a:noFill/>
          <a:ln w="25400">
            <a:solidFill>
              <a:srgbClr val="1E467D"/>
            </a:solidFill>
            <a:prstDash val="solid"/>
            <a:tail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14" name="Shape 12"/>
          <p:cNvSpPr/>
          <p:nvPr/>
        </p:nvSpPr>
        <p:spPr>
          <a:xfrm>
            <a:off x="3977640" y="2103120"/>
            <a:ext cx="4023360" cy="502920"/>
          </a:xfrm>
          <a:prstGeom prst="roundRect">
            <a:avLst/>
          </a:prstGeom>
          <a:solidFill>
            <a:srgbClr val="E8F5E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5" name="Text 13"/>
          <p:cNvSpPr/>
          <p:nvPr/>
        </p:nvSpPr>
        <p:spPr>
          <a:xfrm>
            <a:off x="4087368" y="2176272"/>
            <a:ext cx="380390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Directional coupler / splitter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77240" y="2880360"/>
            <a:ext cx="2331720" cy="502920"/>
          </a:xfrm>
          <a:prstGeom prst="roundRect">
            <a:avLst/>
          </a:prstGeom>
          <a:solidFill>
            <a:srgbClr val="163458"/>
          </a:solidFill>
          <a:ln w="12700">
            <a:solidFill>
              <a:srgbClr val="16345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7" name="Text 15"/>
          <p:cNvSpPr/>
          <p:nvPr/>
        </p:nvSpPr>
        <p:spPr>
          <a:xfrm>
            <a:off x="886968" y="2953512"/>
            <a:ext cx="21122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Factory-only variant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200400" y="3136392"/>
            <a:ext cx="594360" cy="0"/>
          </a:xfrm>
          <a:prstGeom prst="line">
            <a:avLst/>
          </a:prstGeom>
          <a:noFill/>
          <a:ln w="25400">
            <a:solidFill>
              <a:srgbClr val="1E467D"/>
            </a:solidFill>
            <a:prstDash val="solid"/>
            <a:tail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19" name="Shape 17"/>
          <p:cNvSpPr/>
          <p:nvPr/>
        </p:nvSpPr>
        <p:spPr>
          <a:xfrm>
            <a:off x="3977640" y="2880360"/>
            <a:ext cx="4023360" cy="502920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0" name="Text 18"/>
          <p:cNvSpPr/>
          <p:nvPr/>
        </p:nvSpPr>
        <p:spPr>
          <a:xfrm>
            <a:off x="4087368" y="2953512"/>
            <a:ext cx="380390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Solder link / 0 ohm / PCB option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77240" y="3657600"/>
            <a:ext cx="2331720" cy="502920"/>
          </a:xfrm>
          <a:prstGeom prst="roundRect">
            <a:avLst/>
          </a:prstGeom>
          <a:solidFill>
            <a:srgbClr val="163458"/>
          </a:solidFill>
          <a:ln w="12700">
            <a:solidFill>
              <a:srgbClr val="16345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2" name="Text 20"/>
          <p:cNvSpPr/>
          <p:nvPr/>
        </p:nvSpPr>
        <p:spPr>
          <a:xfrm>
            <a:off x="886968" y="3730752"/>
            <a:ext cx="21122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Manufacturing access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200400" y="3913632"/>
            <a:ext cx="594360" cy="0"/>
          </a:xfrm>
          <a:prstGeom prst="line">
            <a:avLst/>
          </a:prstGeom>
          <a:noFill/>
          <a:ln w="25400">
            <a:solidFill>
              <a:srgbClr val="1E467D"/>
            </a:solidFill>
            <a:prstDash val="solid"/>
            <a:tail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24" name="Shape 22"/>
          <p:cNvSpPr/>
          <p:nvPr/>
        </p:nvSpPr>
        <p:spPr>
          <a:xfrm>
            <a:off x="3977640" y="3657600"/>
            <a:ext cx="4023360" cy="502920"/>
          </a:xfrm>
          <a:prstGeom prst="roundRect">
            <a:avLst/>
          </a:prstGeom>
          <a:solidFill>
            <a:srgbClr val="FFF5E5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5" name="Text 23"/>
          <p:cNvSpPr/>
          <p:nvPr/>
        </p:nvSpPr>
        <p:spPr>
          <a:xfrm>
            <a:off x="4087368" y="3730752"/>
            <a:ext cx="380390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Probe or pogo fixture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77240" y="4892040"/>
            <a:ext cx="10561320" cy="804672"/>
          </a:xfrm>
          <a:prstGeom prst="roundRect">
            <a:avLst/>
          </a:prstGeom>
          <a:solidFill>
            <a:srgbClr val="1E467D"/>
          </a:solidFill>
          <a:ln w="12700">
            <a:solidFill>
              <a:srgbClr val="1E467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7" name="Text 25"/>
          <p:cNvSpPr/>
          <p:nvPr/>
        </p:nvSpPr>
        <p:spPr>
          <a:xfrm>
            <a:off x="886968" y="4965192"/>
            <a:ext cx="10341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robust 12 GHz design is the one that makes the inactive path electrically quiet, mechanically repeatable, and measurable.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60120" y="5989320"/>
            <a:ext cx="10195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design inputs: frequency span, power, connector family, switching frequency, environment, and whether "test" replaces or monitors the next component.</a:t>
            </a:r>
            <a:endParaRPr lang="en-US" sz="13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30" dirty="0">
                <a:solidFill>
                  <a:srgbClr val="1E4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| THESIS-FOCUSED CONCEPT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 bachelor thesis, treat the 1:2 selector as an assembly option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921240" y="393192"/>
            <a:ext cx="1764792" cy="265176"/>
          </a:xfrm>
          <a:prstGeom prst="roundRect">
            <a:avLst/>
          </a:prstGeom>
          <a:solidFill>
            <a:srgbClr val="163458"/>
          </a:solidFill>
          <a:ln w="12700">
            <a:solidFill>
              <a:srgbClr val="16345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/>
          <p:nvPr/>
        </p:nvSpPr>
        <p:spPr>
          <a:xfrm>
            <a:off x="9921240" y="406908"/>
            <a:ext cx="1764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LOW-COST PATH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29844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selector is not changed while powered. You change which RF link is populated, then measure the new configuration.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1417320" cy="676656"/>
          </a:xfrm>
          <a:prstGeom prst="roundRect">
            <a:avLst/>
          </a:prstGeom>
          <a:solidFill>
            <a:srgbClr val="EAF2FB"/>
          </a:solidFill>
          <a:ln w="19050">
            <a:solidFill>
              <a:srgbClr val="1E467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057400" y="3127248"/>
            <a:ext cx="914400" cy="0"/>
          </a:xfrm>
          <a:prstGeom prst="line">
            <a:avLst/>
          </a:prstGeom>
          <a:noFill/>
          <a:ln w="31750">
            <a:solidFill>
              <a:srgbClr val="1E467D"/>
            </a:solidFill>
            <a:prstDash val="solid"/>
            <a:tail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10" name="Shape 8"/>
          <p:cNvSpPr/>
          <p:nvPr/>
        </p:nvSpPr>
        <p:spPr>
          <a:xfrm>
            <a:off x="3108960" y="2743200"/>
            <a:ext cx="1371600" cy="768096"/>
          </a:xfrm>
          <a:prstGeom prst="roundRect">
            <a:avLst/>
          </a:prstGeom>
          <a:solidFill>
            <a:srgbClr val="1E467D"/>
          </a:solidFill>
          <a:ln w="19050">
            <a:solidFill>
              <a:srgbClr val="1E467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Text 9"/>
          <p:cNvSpPr/>
          <p:nvPr/>
        </p:nvSpPr>
        <p:spPr>
          <a:xfrm>
            <a:off x="3108960" y="2788920"/>
            <a:ext cx="1371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SELECTOR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480560" y="3127248"/>
            <a:ext cx="1097280" cy="0"/>
          </a:xfrm>
          <a:prstGeom prst="line">
            <a:avLst/>
          </a:prstGeom>
          <a:noFill/>
          <a:ln w="31750">
            <a:solidFill>
              <a:srgbClr val="2E7D5B"/>
            </a:solidFill>
            <a:prstDash val="solid"/>
            <a:tail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13" name="Shape 11"/>
          <p:cNvSpPr/>
          <p:nvPr/>
        </p:nvSpPr>
        <p:spPr>
          <a:xfrm>
            <a:off x="4480560" y="3127248"/>
            <a:ext cx="1097280" cy="969264"/>
          </a:xfrm>
          <a:prstGeom prst="line">
            <a:avLst/>
          </a:prstGeom>
          <a:noFill/>
          <a:ln w="31750">
            <a:solidFill>
              <a:srgbClr val="B7791F"/>
            </a:solidFill>
            <a:prstDash val="solid"/>
            <a:tail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14" name="Shape 12"/>
          <p:cNvSpPr/>
          <p:nvPr/>
        </p:nvSpPr>
        <p:spPr>
          <a:xfrm>
            <a:off x="5715000" y="1810512"/>
            <a:ext cx="1508760" cy="640080"/>
          </a:xfrm>
          <a:prstGeom prst="roundRect">
            <a:avLst/>
          </a:prstGeom>
          <a:solidFill>
            <a:srgbClr val="E8F5EF"/>
          </a:solidFill>
          <a:ln w="1905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5" name="Text 13"/>
          <p:cNvSpPr/>
          <p:nvPr/>
        </p:nvSpPr>
        <p:spPr>
          <a:xfrm>
            <a:off x="5715000" y="185623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J_DIRECT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ohm link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715000" y="3785616"/>
            <a:ext cx="1508760" cy="640080"/>
          </a:xfrm>
          <a:prstGeom prst="roundRect">
            <a:avLst/>
          </a:prstGeom>
          <a:solidFill>
            <a:srgbClr val="FFF5E5"/>
          </a:solidFill>
          <a:ln w="1905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7" name="Text 15"/>
          <p:cNvSpPr/>
          <p:nvPr/>
        </p:nvSpPr>
        <p:spPr>
          <a:xfrm>
            <a:off x="5715000" y="3831336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J_TEST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ohm link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223760" y="2130552"/>
            <a:ext cx="822960" cy="0"/>
          </a:xfrm>
          <a:prstGeom prst="line">
            <a:avLst/>
          </a:prstGeom>
          <a:noFill/>
          <a:ln w="31750">
            <a:solidFill>
              <a:srgbClr val="2E7D5B"/>
            </a:solidFill>
            <a:prstDash val="solid"/>
            <a:tail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19" name="Shape 17"/>
          <p:cNvSpPr/>
          <p:nvPr/>
        </p:nvSpPr>
        <p:spPr>
          <a:xfrm>
            <a:off x="7223760" y="4105656"/>
            <a:ext cx="822960" cy="0"/>
          </a:xfrm>
          <a:prstGeom prst="line">
            <a:avLst/>
          </a:prstGeom>
          <a:noFill/>
          <a:ln w="31750">
            <a:solidFill>
              <a:srgbClr val="B7791F"/>
            </a:solidFill>
            <a:prstDash val="solid"/>
            <a:tail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20" name="Shape 18"/>
          <p:cNvSpPr/>
          <p:nvPr/>
        </p:nvSpPr>
        <p:spPr>
          <a:xfrm>
            <a:off x="8211312" y="1874520"/>
            <a:ext cx="1143000" cy="530352"/>
          </a:xfrm>
          <a:prstGeom prst="roundRect">
            <a:avLst/>
          </a:prstGeom>
          <a:solidFill>
            <a:srgbClr val="E8F5EF"/>
          </a:solidFill>
          <a:ln w="1905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1" name="Text 19"/>
          <p:cNvSpPr/>
          <p:nvPr/>
        </p:nvSpPr>
        <p:spPr>
          <a:xfrm>
            <a:off x="8211312" y="1920240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211312" y="3822192"/>
            <a:ext cx="1417320" cy="640080"/>
          </a:xfrm>
          <a:prstGeom prst="roundRect">
            <a:avLst/>
          </a:prstGeom>
          <a:solidFill>
            <a:srgbClr val="FFF5E5"/>
          </a:solidFill>
          <a:ln w="1905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3" name="Text 21"/>
          <p:cNvSpPr/>
          <p:nvPr/>
        </p:nvSpPr>
        <p:spPr>
          <a:xfrm>
            <a:off x="8211312" y="386791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CONNECTOR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77240" y="5212080"/>
            <a:ext cx="4800600" cy="713232"/>
          </a:xfrm>
          <a:prstGeom prst="roundRect">
            <a:avLst/>
          </a:prstGeom>
          <a:solidFill>
            <a:srgbClr val="163458"/>
          </a:solidFill>
          <a:ln w="12700">
            <a:solidFill>
              <a:srgbClr val="16345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5" name="Text 23"/>
          <p:cNvSpPr/>
          <p:nvPr/>
        </p:nvSpPr>
        <p:spPr>
          <a:xfrm>
            <a:off x="886968" y="5285232"/>
            <a:ext cx="4581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Populate exactly one link at a time: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J_DIRECT OR J_TEST, never both.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989320" y="5212080"/>
            <a:ext cx="5120640" cy="713232"/>
          </a:xfrm>
          <a:prstGeom prst="roundRect">
            <a:avLst/>
          </a:prstGeom>
          <a:solidFill>
            <a:srgbClr val="FFF5E5"/>
          </a:solidFill>
          <a:ln w="12700">
            <a:solidFill>
              <a:srgbClr val="E8C57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7" name="Text 25"/>
          <p:cNvSpPr/>
          <p:nvPr/>
        </p:nvSpPr>
        <p:spPr>
          <a:xfrm>
            <a:off x="6099048" y="5285232"/>
            <a:ext cx="4901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 reconfigurable prototype, not a live RF switch.</a:t>
            </a:r>
            <a:endParaRPr lang="en-US" sz="16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30" dirty="0">
                <a:solidFill>
                  <a:srgbClr val="1E4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| POPULATION PLAN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three build states: direct, test, and safe open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921240" y="393192"/>
            <a:ext cx="1764792" cy="265176"/>
          </a:xfrm>
          <a:prstGeom prst="roundRect">
            <a:avLst/>
          </a:prstGeom>
          <a:solidFill>
            <a:srgbClr val="163458"/>
          </a:solidFill>
          <a:ln w="12700">
            <a:solidFill>
              <a:srgbClr val="16345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/>
          <p:nvPr/>
        </p:nvSpPr>
        <p:spPr>
          <a:xfrm>
            <a:off x="9921240" y="406908"/>
            <a:ext cx="1764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BOM + ASSEMBLY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1920240" cy="457200"/>
          </a:xfrm>
          <a:prstGeom prst="roundRect">
            <a:avLst/>
          </a:prstGeom>
          <a:solidFill>
            <a:srgbClr val="163458"/>
          </a:solidFill>
          <a:ln w="12700">
            <a:solidFill>
              <a:srgbClr val="16345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Text 5"/>
          <p:cNvSpPr/>
          <p:nvPr/>
        </p:nvSpPr>
        <p:spPr>
          <a:xfrm>
            <a:off x="612648" y="1399032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state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606040" y="1325880"/>
            <a:ext cx="1371600" cy="457200"/>
          </a:xfrm>
          <a:prstGeom prst="roundRect">
            <a:avLst/>
          </a:prstGeom>
          <a:solidFill>
            <a:srgbClr val="163458"/>
          </a:solidFill>
          <a:ln w="12700">
            <a:solidFill>
              <a:srgbClr val="16345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9" name="Text 7"/>
          <p:cNvSpPr/>
          <p:nvPr/>
        </p:nvSpPr>
        <p:spPr>
          <a:xfrm>
            <a:off x="2715768" y="1399032"/>
            <a:ext cx="1152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J_DIRECT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06240" y="1325880"/>
            <a:ext cx="1371600" cy="457200"/>
          </a:xfrm>
          <a:prstGeom prst="roundRect">
            <a:avLst/>
          </a:prstGeom>
          <a:solidFill>
            <a:srgbClr val="163458"/>
          </a:solidFill>
          <a:ln w="12700">
            <a:solidFill>
              <a:srgbClr val="16345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Text 9"/>
          <p:cNvSpPr/>
          <p:nvPr/>
        </p:nvSpPr>
        <p:spPr>
          <a:xfrm>
            <a:off x="4315968" y="1399032"/>
            <a:ext cx="1152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J_TEST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806440" y="1325880"/>
            <a:ext cx="1417320" cy="457200"/>
          </a:xfrm>
          <a:prstGeom prst="roundRect">
            <a:avLst/>
          </a:prstGeom>
          <a:solidFill>
            <a:srgbClr val="163458"/>
          </a:solidFill>
          <a:ln w="12700">
            <a:solidFill>
              <a:srgbClr val="16345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3" name="Text 11"/>
          <p:cNvSpPr/>
          <p:nvPr/>
        </p:nvSpPr>
        <p:spPr>
          <a:xfrm>
            <a:off x="5916168" y="1399032"/>
            <a:ext cx="1197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Connector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498080" y="1325880"/>
            <a:ext cx="4160520" cy="457200"/>
          </a:xfrm>
          <a:prstGeom prst="roundRect">
            <a:avLst/>
          </a:prstGeom>
          <a:solidFill>
            <a:srgbClr val="163458"/>
          </a:solidFill>
          <a:ln w="12700">
            <a:solidFill>
              <a:srgbClr val="16345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5" name="Text 13"/>
          <p:cNvSpPr/>
          <p:nvPr/>
        </p:nvSpPr>
        <p:spPr>
          <a:xfrm>
            <a:off x="7607808" y="1399032"/>
            <a:ext cx="3941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1783080"/>
            <a:ext cx="1920240" cy="621792"/>
          </a:xfrm>
          <a:prstGeom prst="roundRect">
            <a:avLst/>
          </a:prstGeom>
          <a:solidFill>
            <a:srgbClr val="E8F5EF"/>
          </a:solidFill>
          <a:ln w="12700">
            <a:solidFill>
              <a:srgbClr val="9AC9B1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7" name="Text 15"/>
          <p:cNvSpPr/>
          <p:nvPr/>
        </p:nvSpPr>
        <p:spPr>
          <a:xfrm>
            <a:off x="612648" y="1856232"/>
            <a:ext cx="1700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Direct / final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606040" y="1783080"/>
            <a:ext cx="1371600" cy="621792"/>
          </a:xfrm>
          <a:prstGeom prst="roundRect">
            <a:avLst/>
          </a:prstGeom>
          <a:solidFill>
            <a:srgbClr val="E8F5EF"/>
          </a:solidFill>
          <a:ln w="12700">
            <a:solidFill>
              <a:srgbClr val="9AC9B1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9" name="Text 17"/>
          <p:cNvSpPr/>
          <p:nvPr/>
        </p:nvSpPr>
        <p:spPr>
          <a:xfrm>
            <a:off x="2715768" y="1856232"/>
            <a:ext cx="1152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POPULATED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206240" y="1783080"/>
            <a:ext cx="1371600" cy="621792"/>
          </a:xfrm>
          <a:prstGeom prst="roundRect">
            <a:avLst/>
          </a:prstGeom>
          <a:solidFill>
            <a:srgbClr val="E8F5EF"/>
          </a:solidFill>
          <a:ln w="12700">
            <a:solidFill>
              <a:srgbClr val="9AC9B1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1" name="Text 19"/>
          <p:cNvSpPr/>
          <p:nvPr/>
        </p:nvSpPr>
        <p:spPr>
          <a:xfrm>
            <a:off x="4315968" y="1856232"/>
            <a:ext cx="1152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DNP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806440" y="1783080"/>
            <a:ext cx="1417320" cy="621792"/>
          </a:xfrm>
          <a:prstGeom prst="roundRect">
            <a:avLst/>
          </a:prstGeom>
          <a:solidFill>
            <a:srgbClr val="E8F5EF"/>
          </a:solidFill>
          <a:ln w="12700">
            <a:solidFill>
              <a:srgbClr val="9AC9B1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3" name="Text 21"/>
          <p:cNvSpPr/>
          <p:nvPr/>
        </p:nvSpPr>
        <p:spPr>
          <a:xfrm>
            <a:off x="5916168" y="1856232"/>
            <a:ext cx="11978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DNP or 50 ohm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498080" y="1783080"/>
            <a:ext cx="4160520" cy="621792"/>
          </a:xfrm>
          <a:prstGeom prst="roundRect">
            <a:avLst/>
          </a:prstGeom>
          <a:solidFill>
            <a:srgbClr val="E8F5EF"/>
          </a:solidFill>
          <a:ln w="12700">
            <a:solidFill>
              <a:srgbClr val="9AC9B1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5" name="Text 23"/>
          <p:cNvSpPr/>
          <p:nvPr/>
        </p:nvSpPr>
        <p:spPr>
          <a:xfrm>
            <a:off x="7607808" y="1856232"/>
            <a:ext cx="3941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signal path to the next component.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02920" y="2560320"/>
            <a:ext cx="1920240" cy="621792"/>
          </a:xfrm>
          <a:prstGeom prst="roundRect">
            <a:avLst/>
          </a:prstGeom>
          <a:solidFill>
            <a:srgbClr val="FFF5E5"/>
          </a:solidFill>
          <a:ln w="12700">
            <a:solidFill>
              <a:srgbClr val="E8C57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7" name="Text 25"/>
          <p:cNvSpPr/>
          <p:nvPr/>
        </p:nvSpPr>
        <p:spPr>
          <a:xfrm>
            <a:off x="612648" y="2633472"/>
            <a:ext cx="1700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B: Test / measure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2606040" y="2560320"/>
            <a:ext cx="1371600" cy="621792"/>
          </a:xfrm>
          <a:prstGeom prst="roundRect">
            <a:avLst/>
          </a:prstGeom>
          <a:solidFill>
            <a:srgbClr val="FFF5E5"/>
          </a:solidFill>
          <a:ln w="12700">
            <a:solidFill>
              <a:srgbClr val="E8C57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9" name="Text 27"/>
          <p:cNvSpPr/>
          <p:nvPr/>
        </p:nvSpPr>
        <p:spPr>
          <a:xfrm>
            <a:off x="2715768" y="2633472"/>
            <a:ext cx="1152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DNP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206240" y="2560320"/>
            <a:ext cx="1371600" cy="621792"/>
          </a:xfrm>
          <a:prstGeom prst="roundRect">
            <a:avLst/>
          </a:prstGeom>
          <a:solidFill>
            <a:srgbClr val="FFF5E5"/>
          </a:solidFill>
          <a:ln w="12700">
            <a:solidFill>
              <a:srgbClr val="E8C57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1" name="Text 29"/>
          <p:cNvSpPr/>
          <p:nvPr/>
        </p:nvSpPr>
        <p:spPr>
          <a:xfrm>
            <a:off x="4315968" y="2633472"/>
            <a:ext cx="1152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POPULATED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806440" y="2560320"/>
            <a:ext cx="1417320" cy="621792"/>
          </a:xfrm>
          <a:prstGeom prst="roundRect">
            <a:avLst/>
          </a:prstGeom>
          <a:solidFill>
            <a:srgbClr val="FFF5E5"/>
          </a:solidFill>
          <a:ln w="12700">
            <a:solidFill>
              <a:srgbClr val="E8C57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3" name="Text 31"/>
          <p:cNvSpPr/>
          <p:nvPr/>
        </p:nvSpPr>
        <p:spPr>
          <a:xfrm>
            <a:off x="5916168" y="2633472"/>
            <a:ext cx="11978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POPULATED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7498080" y="2560320"/>
            <a:ext cx="4160520" cy="621792"/>
          </a:xfrm>
          <a:prstGeom prst="roundRect">
            <a:avLst/>
          </a:prstGeom>
          <a:solidFill>
            <a:srgbClr val="FFF5E5"/>
          </a:solidFill>
          <a:ln w="12700">
            <a:solidFill>
              <a:srgbClr val="E8C57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5" name="Text 33"/>
          <p:cNvSpPr/>
          <p:nvPr/>
        </p:nvSpPr>
        <p:spPr>
          <a:xfrm>
            <a:off x="7607808" y="2633472"/>
            <a:ext cx="3941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the component output to the VNA or test instrument.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02920" y="3337560"/>
            <a:ext cx="1920240" cy="621792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7" name="Text 35"/>
          <p:cNvSpPr/>
          <p:nvPr/>
        </p:nvSpPr>
        <p:spPr>
          <a:xfrm>
            <a:off x="612648" y="3410712"/>
            <a:ext cx="1700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C: Safe open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2606040" y="3337560"/>
            <a:ext cx="1371600" cy="621792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9" name="Text 37"/>
          <p:cNvSpPr/>
          <p:nvPr/>
        </p:nvSpPr>
        <p:spPr>
          <a:xfrm>
            <a:off x="2715768" y="3410712"/>
            <a:ext cx="1152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DNP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4206240" y="3337560"/>
            <a:ext cx="1371600" cy="621792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1" name="Text 39"/>
          <p:cNvSpPr/>
          <p:nvPr/>
        </p:nvSpPr>
        <p:spPr>
          <a:xfrm>
            <a:off x="4315968" y="3410712"/>
            <a:ext cx="1152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DNP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5806440" y="3337560"/>
            <a:ext cx="1417320" cy="621792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3" name="Text 41"/>
          <p:cNvSpPr/>
          <p:nvPr/>
        </p:nvSpPr>
        <p:spPr>
          <a:xfrm>
            <a:off x="5916168" y="3410712"/>
            <a:ext cx="11978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DNP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7498080" y="3337560"/>
            <a:ext cx="4160520" cy="621792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5" name="Text 43"/>
          <p:cNvSpPr/>
          <p:nvPr/>
        </p:nvSpPr>
        <p:spPr>
          <a:xfrm>
            <a:off x="7607808" y="3410712"/>
            <a:ext cx="3941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 / isolation state; no complete path.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731520" y="4800600"/>
            <a:ext cx="1056132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DNP = do not populate; it is an assembly instruction, not an electrical component.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one spare PCB or a small rework area because repeated soldering can damage pads.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the exact population state on every measurement file and PCB photograph.</a:t>
            </a:r>
            <a:endParaRPr lang="en-US" sz="1400" dirty="0"/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30" dirty="0">
                <a:solidFill>
                  <a:srgbClr val="1E4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| RF TOPOLOGY DETAILS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low-cost selector works only if the inactive branch is controlled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921240" y="393192"/>
            <a:ext cx="1764792" cy="265176"/>
          </a:xfrm>
          <a:prstGeom prst="roundRect">
            <a:avLst/>
          </a:prstGeom>
          <a:solidFill>
            <a:srgbClr val="163458"/>
          </a:solidFill>
          <a:ln w="12700">
            <a:solidFill>
              <a:srgbClr val="16345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/>
          <p:nvPr/>
        </p:nvSpPr>
        <p:spPr>
          <a:xfrm>
            <a:off x="9921240" y="406908"/>
            <a:ext cx="1764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LEAVE A STUB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1325880"/>
            <a:ext cx="2971800" cy="457200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B7CDE4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Text 5"/>
          <p:cNvSpPr/>
          <p:nvPr/>
        </p:nvSpPr>
        <p:spPr>
          <a:xfrm>
            <a:off x="795528" y="1399032"/>
            <a:ext cx="2752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4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Good: branch point is compact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783080" y="2057400"/>
            <a:ext cx="914400" cy="457200"/>
          </a:xfrm>
          <a:prstGeom prst="roundRect">
            <a:avLst/>
          </a:prstGeom>
          <a:solidFill>
            <a:srgbClr val="1E467D"/>
          </a:solidFill>
          <a:ln w="19050">
            <a:solidFill>
              <a:srgbClr val="1E467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9" name="Text 7"/>
          <p:cNvSpPr/>
          <p:nvPr/>
        </p:nvSpPr>
        <p:spPr>
          <a:xfrm>
            <a:off x="1783080" y="21031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05840" y="2286000"/>
            <a:ext cx="777240" cy="0"/>
          </a:xfrm>
          <a:prstGeom prst="line">
            <a:avLst/>
          </a:prstGeom>
          <a:noFill/>
          <a:ln w="25400">
            <a:solidFill>
              <a:srgbClr val="1E467D"/>
            </a:solidFill>
            <a:prstDash val="solid"/>
            <a:tail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11" name="Shape 9"/>
          <p:cNvSpPr/>
          <p:nvPr/>
        </p:nvSpPr>
        <p:spPr>
          <a:xfrm>
            <a:off x="2697480" y="2286000"/>
            <a:ext cx="777240" cy="0"/>
          </a:xfrm>
          <a:prstGeom prst="line">
            <a:avLst/>
          </a:prstGeom>
          <a:noFill/>
          <a:ln w="25400">
            <a:solidFill>
              <a:srgbClr val="2E7D5B"/>
            </a:solidFill>
            <a:prstDash val="solid"/>
            <a:tail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12" name="Shape 10"/>
          <p:cNvSpPr/>
          <p:nvPr/>
        </p:nvSpPr>
        <p:spPr>
          <a:xfrm>
            <a:off x="3566160" y="2057400"/>
            <a:ext cx="914400" cy="457200"/>
          </a:xfrm>
          <a:prstGeom prst="roundRect">
            <a:avLst/>
          </a:prstGeom>
          <a:solidFill>
            <a:srgbClr val="E8F5EF"/>
          </a:solidFill>
          <a:ln w="1905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3" name="Text 11"/>
          <p:cNvSpPr/>
          <p:nvPr/>
        </p:nvSpPr>
        <p:spPr>
          <a:xfrm>
            <a:off x="3566160" y="21031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240280" y="2514600"/>
            <a:ext cx="0" cy="548640"/>
          </a:xfrm>
          <a:prstGeom prst="line">
            <a:avLst/>
          </a:prstGeom>
          <a:noFill/>
          <a:ln w="25400">
            <a:solidFill>
              <a:srgbClr val="B7791F"/>
            </a:solidFill>
            <a:prstDash val="solid"/>
            <a:tail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15" name="Shape 13"/>
          <p:cNvSpPr/>
          <p:nvPr/>
        </p:nvSpPr>
        <p:spPr>
          <a:xfrm>
            <a:off x="1783080" y="3182112"/>
            <a:ext cx="914400" cy="457200"/>
          </a:xfrm>
          <a:prstGeom prst="roundRect">
            <a:avLst/>
          </a:prstGeom>
          <a:solidFill>
            <a:srgbClr val="FFF5E5"/>
          </a:solidFill>
          <a:ln w="1905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6" name="Text 14"/>
          <p:cNvSpPr/>
          <p:nvPr/>
        </p:nvSpPr>
        <p:spPr>
          <a:xfrm>
            <a:off x="1783080" y="32278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3977640"/>
            <a:ext cx="4389120" cy="566928"/>
          </a:xfrm>
          <a:prstGeom prst="roundRect">
            <a:avLst/>
          </a:prstGeom>
          <a:solidFill>
            <a:srgbClr val="E8F5EF"/>
          </a:solidFill>
          <a:ln w="12700">
            <a:solidFill>
              <a:srgbClr val="9AC9B1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8" name="Text 16"/>
          <p:cNvSpPr/>
          <p:nvPr/>
        </p:nvSpPr>
        <p:spPr>
          <a:xfrm>
            <a:off x="841248" y="4050792"/>
            <a:ext cx="4169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distance from NODE to either link as short as possible.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0" y="1325880"/>
            <a:ext cx="2971800" cy="457200"/>
          </a:xfrm>
          <a:prstGeom prst="roundRect">
            <a:avLst/>
          </a:prstGeom>
          <a:solidFill>
            <a:srgbClr val="FFF5E5"/>
          </a:solidFill>
          <a:ln w="12700">
            <a:solidFill>
              <a:srgbClr val="E8C57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0" name="Text 18"/>
          <p:cNvSpPr/>
          <p:nvPr/>
        </p:nvSpPr>
        <p:spPr>
          <a:xfrm>
            <a:off x="6510528" y="1399032"/>
            <a:ext cx="2752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Bad: long open branch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720840" y="2057400"/>
            <a:ext cx="914400" cy="457200"/>
          </a:xfrm>
          <a:prstGeom prst="roundRect">
            <a:avLst/>
          </a:prstGeom>
          <a:solidFill>
            <a:srgbClr val="1E467D"/>
          </a:solidFill>
          <a:ln w="19050">
            <a:solidFill>
              <a:srgbClr val="1E467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2" name="Text 20"/>
          <p:cNvSpPr/>
          <p:nvPr/>
        </p:nvSpPr>
        <p:spPr>
          <a:xfrm>
            <a:off x="6720840" y="21031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852160" y="2286000"/>
            <a:ext cx="868680" cy="0"/>
          </a:xfrm>
          <a:prstGeom prst="line">
            <a:avLst/>
          </a:prstGeom>
          <a:noFill/>
          <a:ln w="25400">
            <a:solidFill>
              <a:srgbClr val="1E467D"/>
            </a:solidFill>
            <a:prstDash val="solid"/>
            <a:tail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24" name="Shape 22"/>
          <p:cNvSpPr/>
          <p:nvPr/>
        </p:nvSpPr>
        <p:spPr>
          <a:xfrm>
            <a:off x="7635240" y="2286000"/>
            <a:ext cx="777240" cy="0"/>
          </a:xfrm>
          <a:prstGeom prst="line">
            <a:avLst/>
          </a:prstGeom>
          <a:noFill/>
          <a:ln w="25400">
            <a:solidFill>
              <a:srgbClr val="2E7D5B"/>
            </a:solidFill>
            <a:prstDash val="solid"/>
            <a:tail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25" name="Shape 23"/>
          <p:cNvSpPr/>
          <p:nvPr/>
        </p:nvSpPr>
        <p:spPr>
          <a:xfrm>
            <a:off x="8503920" y="2057400"/>
            <a:ext cx="914400" cy="457200"/>
          </a:xfrm>
          <a:prstGeom prst="roundRect">
            <a:avLst/>
          </a:prstGeom>
          <a:solidFill>
            <a:srgbClr val="E8F5EF"/>
          </a:solidFill>
          <a:ln w="1905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6" name="Text 24"/>
          <p:cNvSpPr/>
          <p:nvPr/>
        </p:nvSpPr>
        <p:spPr>
          <a:xfrm>
            <a:off x="8503920" y="21031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178040" y="2514600"/>
            <a:ext cx="0" cy="868680"/>
          </a:xfrm>
          <a:prstGeom prst="line">
            <a:avLst/>
          </a:prstGeom>
          <a:noFill/>
          <a:ln w="25400">
            <a:solidFill>
              <a:srgbClr val="B54747"/>
            </a:solidFill>
            <a:prstDash val="solid"/>
            <a:tailEnd type="none"/>
          </a:ln>
        </p:spPr>
        <p:txBody>
          <a:bodyPr/>
          <a:lstStyle/>
          <a:p>
            <a:endParaRPr lang="cs-CZ"/>
          </a:p>
        </p:txBody>
      </p:sp>
      <p:sp>
        <p:nvSpPr>
          <p:cNvPr id="28" name="Shape 26"/>
          <p:cNvSpPr/>
          <p:nvPr/>
        </p:nvSpPr>
        <p:spPr>
          <a:xfrm>
            <a:off x="7178040" y="3383280"/>
            <a:ext cx="2651760" cy="0"/>
          </a:xfrm>
          <a:prstGeom prst="line">
            <a:avLst/>
          </a:prstGeom>
          <a:noFill/>
          <a:ln w="25400">
            <a:solidFill>
              <a:srgbClr val="B54747"/>
            </a:solidFill>
            <a:prstDash val="solid"/>
            <a:tailEnd type="none"/>
          </a:ln>
        </p:spPr>
        <p:txBody>
          <a:bodyPr/>
          <a:lstStyle/>
          <a:p>
            <a:endParaRPr lang="cs-CZ"/>
          </a:p>
        </p:txBody>
      </p:sp>
      <p:sp>
        <p:nvSpPr>
          <p:cNvPr id="29" name="Shape 27"/>
          <p:cNvSpPr/>
          <p:nvPr/>
        </p:nvSpPr>
        <p:spPr>
          <a:xfrm>
            <a:off x="9829800" y="3383280"/>
            <a:ext cx="0" cy="594360"/>
          </a:xfrm>
          <a:prstGeom prst="line">
            <a:avLst/>
          </a:prstGeom>
          <a:noFill/>
          <a:ln w="25400">
            <a:solidFill>
              <a:srgbClr val="B54747"/>
            </a:solidFill>
            <a:prstDash val="solid"/>
            <a:tail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30" name="Shape 28"/>
          <p:cNvSpPr/>
          <p:nvPr/>
        </p:nvSpPr>
        <p:spPr>
          <a:xfrm>
            <a:off x="9235440" y="4096512"/>
            <a:ext cx="1188720" cy="566928"/>
          </a:xfrm>
          <a:prstGeom prst="roundRect">
            <a:avLst/>
          </a:prstGeom>
          <a:solidFill>
            <a:srgbClr val="FCE8E8"/>
          </a:solidFill>
          <a:ln w="19050">
            <a:solidFill>
              <a:srgbClr val="B5474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1" name="Text 29"/>
          <p:cNvSpPr/>
          <p:nvPr/>
        </p:nvSpPr>
        <p:spPr>
          <a:xfrm>
            <a:off x="9235440" y="414223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/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CONNECTOR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989320" y="5074920"/>
            <a:ext cx="5303520" cy="786384"/>
          </a:xfrm>
          <a:prstGeom prst="roundRect">
            <a:avLst/>
          </a:prstGeom>
          <a:solidFill>
            <a:srgbClr val="FCE8E8"/>
          </a:solidFill>
          <a:ln w="12700">
            <a:solidFill>
              <a:srgbClr val="E4A5A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3" name="Text 31"/>
          <p:cNvSpPr/>
          <p:nvPr/>
        </p:nvSpPr>
        <p:spPr>
          <a:xfrm>
            <a:off x="6099048" y="5148072"/>
            <a:ext cx="5084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547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unselected 50 ohm branch is not automatically harmless. Terminate it, remove it, or make the stub electrically very short.</a:t>
            </a:r>
            <a:endParaRPr lang="en-US" sz="15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30" dirty="0">
                <a:solidFill>
                  <a:srgbClr val="1E4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| FINAL-STATE STRATEGY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 connector only during characterization, then depopulate or terminate it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921240" y="393192"/>
            <a:ext cx="1764792" cy="265176"/>
          </a:xfrm>
          <a:prstGeom prst="roundRect">
            <a:avLst/>
          </a:prstGeom>
          <a:solidFill>
            <a:srgbClr val="163458"/>
          </a:solidFill>
          <a:ln w="12700">
            <a:solidFill>
              <a:srgbClr val="16345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/>
          <p:nvPr/>
        </p:nvSpPr>
        <p:spPr>
          <a:xfrm>
            <a:off x="9921240" y="406908"/>
            <a:ext cx="1764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BUILD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417320"/>
            <a:ext cx="502920" cy="502920"/>
          </a:xfrm>
          <a:prstGeom prst="roundRect">
            <a:avLst/>
          </a:prstGeom>
          <a:solidFill>
            <a:srgbClr val="1E467D"/>
          </a:solidFill>
          <a:ln w="12700">
            <a:solidFill>
              <a:srgbClr val="1E467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Text 5"/>
          <p:cNvSpPr/>
          <p:nvPr/>
        </p:nvSpPr>
        <p:spPr>
          <a:xfrm>
            <a:off x="704088" y="1490472"/>
            <a:ext cx="2834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234440" y="1417320"/>
            <a:ext cx="2743200" cy="502920"/>
          </a:xfrm>
          <a:prstGeom prst="roundRect">
            <a:avLst/>
          </a:prstGeom>
          <a:solidFill>
            <a:srgbClr val="163458"/>
          </a:solidFill>
          <a:ln w="12700">
            <a:solidFill>
              <a:srgbClr val="16345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9" name="Text 7"/>
          <p:cNvSpPr/>
          <p:nvPr/>
        </p:nvSpPr>
        <p:spPr>
          <a:xfrm>
            <a:off x="1344168" y="1490472"/>
            <a:ext cx="252374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Characterization PCB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234440" y="2148840"/>
            <a:ext cx="2743200" cy="1143000"/>
          </a:xfrm>
          <a:prstGeom prst="roundRect">
            <a:avLst/>
          </a:prstGeom>
          <a:solidFill>
            <a:srgbClr val="FFF5E5"/>
          </a:solidFill>
          <a:ln w="12700">
            <a:solidFill>
              <a:srgbClr val="E8C57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Text 9"/>
          <p:cNvSpPr/>
          <p:nvPr/>
        </p:nvSpPr>
        <p:spPr>
          <a:xfrm>
            <a:off x="1344168" y="2221992"/>
            <a:ext cx="252374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J_DIRECT DNP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J_TEST POPULATED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connector fitted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069080" y="1920240"/>
            <a:ext cx="274320" cy="0"/>
          </a:xfrm>
          <a:prstGeom prst="line">
            <a:avLst/>
          </a:prstGeom>
          <a:noFill/>
          <a:ln w="25400">
            <a:solidFill>
              <a:srgbClr val="1E467D"/>
            </a:solidFill>
            <a:prstDash val="solid"/>
            <a:tail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13" name="Shape 11"/>
          <p:cNvSpPr/>
          <p:nvPr/>
        </p:nvSpPr>
        <p:spPr>
          <a:xfrm>
            <a:off x="4434840" y="1417320"/>
            <a:ext cx="502920" cy="502920"/>
          </a:xfrm>
          <a:prstGeom prst="roundRect">
            <a:avLst/>
          </a:prstGeom>
          <a:solidFill>
            <a:srgbClr val="1E467D"/>
          </a:solidFill>
          <a:ln w="12700">
            <a:solidFill>
              <a:srgbClr val="1E467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4" name="Text 12"/>
          <p:cNvSpPr/>
          <p:nvPr/>
        </p:nvSpPr>
        <p:spPr>
          <a:xfrm>
            <a:off x="4544568" y="1490472"/>
            <a:ext cx="2834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074920" y="1417320"/>
            <a:ext cx="2743200" cy="502920"/>
          </a:xfrm>
          <a:prstGeom prst="roundRect">
            <a:avLst/>
          </a:prstGeom>
          <a:solidFill>
            <a:srgbClr val="163458"/>
          </a:solidFill>
          <a:ln w="12700">
            <a:solidFill>
              <a:srgbClr val="16345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6" name="Text 14"/>
          <p:cNvSpPr/>
          <p:nvPr/>
        </p:nvSpPr>
        <p:spPr>
          <a:xfrm>
            <a:off x="5184648" y="1490472"/>
            <a:ext cx="252374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components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074920" y="2148840"/>
            <a:ext cx="2743200" cy="1143000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B7CDE4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8" name="Text 16"/>
          <p:cNvSpPr/>
          <p:nvPr/>
        </p:nvSpPr>
        <p:spPr>
          <a:xfrm>
            <a:off x="5184648" y="2221992"/>
            <a:ext cx="252374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VNA -&gt; TEST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each block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S-parameters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909560" y="1920240"/>
            <a:ext cx="274320" cy="0"/>
          </a:xfrm>
          <a:prstGeom prst="line">
            <a:avLst/>
          </a:prstGeom>
          <a:noFill/>
          <a:ln w="25400">
            <a:solidFill>
              <a:srgbClr val="1E467D"/>
            </a:solidFill>
            <a:prstDash val="solid"/>
            <a:tail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20" name="Shape 18"/>
          <p:cNvSpPr/>
          <p:nvPr/>
        </p:nvSpPr>
        <p:spPr>
          <a:xfrm>
            <a:off x="8275320" y="1417320"/>
            <a:ext cx="502920" cy="502920"/>
          </a:xfrm>
          <a:prstGeom prst="roundRect">
            <a:avLst/>
          </a:prstGeom>
          <a:solidFill>
            <a:srgbClr val="1E467D"/>
          </a:solidFill>
          <a:ln w="12700">
            <a:solidFill>
              <a:srgbClr val="1E467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1" name="Text 19"/>
          <p:cNvSpPr/>
          <p:nvPr/>
        </p:nvSpPr>
        <p:spPr>
          <a:xfrm>
            <a:off x="8385048" y="1490472"/>
            <a:ext cx="2834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915400" y="1417320"/>
            <a:ext cx="2743200" cy="502920"/>
          </a:xfrm>
          <a:prstGeom prst="roundRect">
            <a:avLst/>
          </a:prstGeom>
          <a:solidFill>
            <a:srgbClr val="163458"/>
          </a:solidFill>
          <a:ln w="12700">
            <a:solidFill>
              <a:srgbClr val="16345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3" name="Text 21"/>
          <p:cNvSpPr/>
          <p:nvPr/>
        </p:nvSpPr>
        <p:spPr>
          <a:xfrm>
            <a:off x="9025128" y="1490472"/>
            <a:ext cx="252374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final path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915400" y="2148840"/>
            <a:ext cx="2743200" cy="1143000"/>
          </a:xfrm>
          <a:prstGeom prst="roundRect">
            <a:avLst/>
          </a:prstGeom>
          <a:solidFill>
            <a:srgbClr val="E8F5EF"/>
          </a:solidFill>
          <a:ln w="12700">
            <a:solidFill>
              <a:srgbClr val="9AC9B1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5" name="Text 23"/>
          <p:cNvSpPr/>
          <p:nvPr/>
        </p:nvSpPr>
        <p:spPr>
          <a:xfrm>
            <a:off x="9025128" y="2221992"/>
            <a:ext cx="252374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J_DIRECT POPULATED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J_TEST DNP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Connector DNP or 50 ohm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31520" y="4160520"/>
            <a:ext cx="1056132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treat the test connector as “free” once it is left open: the connector launch and branch still load the circuit.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connector remains fitted in the final board, connect a suitable 50 ohm termination when the port is unused.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budget allows only one board spin, put the test connector on a small detachable coupon or a breakaway edge section.</a:t>
            </a:r>
            <a:endParaRPr lang="en-US" sz="14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30" dirty="0">
                <a:solidFill>
                  <a:srgbClr val="1E4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| MEASUREMENT WORKFLOW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one block at a time, but always define the reference plane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921240" y="393192"/>
            <a:ext cx="1764792" cy="265176"/>
          </a:xfrm>
          <a:prstGeom prst="roundRect">
            <a:avLst/>
          </a:prstGeom>
          <a:solidFill>
            <a:srgbClr val="163458"/>
          </a:solidFill>
          <a:ln w="12700">
            <a:solidFill>
              <a:srgbClr val="16345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/>
          <p:nvPr/>
        </p:nvSpPr>
        <p:spPr>
          <a:xfrm>
            <a:off x="9921240" y="406908"/>
            <a:ext cx="1764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VNA METHOD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457200" cy="265176"/>
          </a:xfrm>
          <a:prstGeom prst="roundRect">
            <a:avLst/>
          </a:prstGeom>
          <a:solidFill>
            <a:srgbClr val="1E467D"/>
          </a:solidFill>
          <a:ln w="12700">
            <a:solidFill>
              <a:srgbClr val="1E467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Text 5"/>
          <p:cNvSpPr/>
          <p:nvPr/>
        </p:nvSpPr>
        <p:spPr>
          <a:xfrm>
            <a:off x="731520" y="1293876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417320" y="129844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880360" y="129844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SOLT or TRL at the connector / fixture reference plane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084832"/>
            <a:ext cx="457200" cy="265176"/>
          </a:xfrm>
          <a:prstGeom prst="roundRect">
            <a:avLst/>
          </a:prstGeom>
          <a:solidFill>
            <a:srgbClr val="1E467D"/>
          </a:solidFill>
          <a:ln w="12700">
            <a:solidFill>
              <a:srgbClr val="1E467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Text 9"/>
          <p:cNvSpPr/>
          <p:nvPr/>
        </p:nvSpPr>
        <p:spPr>
          <a:xfrm>
            <a:off x="731520" y="2098548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417320" y="210312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880360" y="2103120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short, known-good 50 ohm cables and torque connectors consistently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2889504"/>
            <a:ext cx="457200" cy="265176"/>
          </a:xfrm>
          <a:prstGeom prst="roundRect">
            <a:avLst/>
          </a:prstGeom>
          <a:solidFill>
            <a:srgbClr val="1E467D"/>
          </a:solidFill>
          <a:ln w="12700">
            <a:solidFill>
              <a:srgbClr val="1E467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5" name="Text 13"/>
          <p:cNvSpPr/>
          <p:nvPr/>
        </p:nvSpPr>
        <p:spPr>
          <a:xfrm>
            <a:off x="731520" y="2903220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417320" y="290779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880360" y="2907792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S11, S21, and phase across the complete frequency span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1520" y="3694176"/>
            <a:ext cx="457200" cy="265176"/>
          </a:xfrm>
          <a:prstGeom prst="roundRect">
            <a:avLst/>
          </a:prstGeom>
          <a:solidFill>
            <a:srgbClr val="1E467D"/>
          </a:solidFill>
          <a:ln w="12700">
            <a:solidFill>
              <a:srgbClr val="1E467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9" name="Text 17"/>
          <p:cNvSpPr/>
          <p:nvPr/>
        </p:nvSpPr>
        <p:spPr>
          <a:xfrm>
            <a:off x="731520" y="3707892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417320" y="3712464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880360" y="3712464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against the same fixture and cable baseline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31520" y="4498848"/>
            <a:ext cx="457200" cy="265176"/>
          </a:xfrm>
          <a:prstGeom prst="roundRect">
            <a:avLst/>
          </a:prstGeom>
          <a:solidFill>
            <a:srgbClr val="1E467D"/>
          </a:solidFill>
          <a:ln w="12700">
            <a:solidFill>
              <a:srgbClr val="1E467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3" name="Text 21"/>
          <p:cNvSpPr/>
          <p:nvPr/>
        </p:nvSpPr>
        <p:spPr>
          <a:xfrm>
            <a:off x="731520" y="4512564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417320" y="451713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880360" y="4517136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name includes PCB ID, build state, component ID, and date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31520" y="5486400"/>
            <a:ext cx="10561320" cy="640080"/>
          </a:xfrm>
          <a:prstGeom prst="roundRect">
            <a:avLst/>
          </a:prstGeom>
          <a:solidFill>
            <a:srgbClr val="163458"/>
          </a:solidFill>
          <a:ln w="12700">
            <a:solidFill>
              <a:srgbClr val="16345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7" name="Text 25"/>
          <p:cNvSpPr/>
          <p:nvPr/>
        </p:nvSpPr>
        <p:spPr>
          <a:xfrm>
            <a:off x="841248" y="5559552"/>
            <a:ext cx="103418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measurement is only useful if the fixture contribution is known. First measure a through / thru standard or a known-good reference path.</a:t>
            </a:r>
            <a:endParaRPr lang="en-US" sz="16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30" dirty="0">
                <a:solidFill>
                  <a:srgbClr val="1E4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| TEST MATRIX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simple test matrix makes the thesis results traceable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921240" y="393192"/>
            <a:ext cx="1764792" cy="265176"/>
          </a:xfrm>
          <a:prstGeom prst="roundRect">
            <a:avLst/>
          </a:prstGeom>
          <a:solidFill>
            <a:srgbClr val="163458"/>
          </a:solidFill>
          <a:ln w="12700">
            <a:solidFill>
              <a:srgbClr val="16345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/>
          <p:nvPr/>
        </p:nvSpPr>
        <p:spPr>
          <a:xfrm>
            <a:off x="9921240" y="406908"/>
            <a:ext cx="1764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RECORD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1280160" cy="438912"/>
          </a:xfrm>
          <a:prstGeom prst="roundRect">
            <a:avLst/>
          </a:prstGeom>
          <a:solidFill>
            <a:srgbClr val="163458"/>
          </a:solidFill>
          <a:ln w="12700">
            <a:solidFill>
              <a:srgbClr val="16345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Text 5"/>
          <p:cNvSpPr/>
          <p:nvPr/>
        </p:nvSpPr>
        <p:spPr>
          <a:xfrm>
            <a:off x="612648" y="1353312"/>
            <a:ext cx="1060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965960" y="1280160"/>
            <a:ext cx="1828800" cy="438912"/>
          </a:xfrm>
          <a:prstGeom prst="roundRect">
            <a:avLst/>
          </a:prstGeom>
          <a:solidFill>
            <a:srgbClr val="163458"/>
          </a:solidFill>
          <a:ln w="12700">
            <a:solidFill>
              <a:srgbClr val="16345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9" name="Text 7"/>
          <p:cNvSpPr/>
          <p:nvPr/>
        </p:nvSpPr>
        <p:spPr>
          <a:xfrm>
            <a:off x="2075688" y="1353312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state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977640" y="1280160"/>
            <a:ext cx="2651760" cy="438912"/>
          </a:xfrm>
          <a:prstGeom prst="roundRect">
            <a:avLst/>
          </a:prstGeom>
          <a:solidFill>
            <a:srgbClr val="163458"/>
          </a:solidFill>
          <a:ln w="12700">
            <a:solidFill>
              <a:srgbClr val="16345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Text 9"/>
          <p:cNvSpPr/>
          <p:nvPr/>
        </p:nvSpPr>
        <p:spPr>
          <a:xfrm>
            <a:off x="4087368" y="1353312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measure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0" y="1280160"/>
            <a:ext cx="4800600" cy="438912"/>
          </a:xfrm>
          <a:prstGeom prst="roundRect">
            <a:avLst/>
          </a:prstGeom>
          <a:solidFill>
            <a:srgbClr val="163458"/>
          </a:solidFill>
          <a:ln w="12700">
            <a:solidFill>
              <a:srgbClr val="16345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3" name="Text 11"/>
          <p:cNvSpPr/>
          <p:nvPr/>
        </p:nvSpPr>
        <p:spPr>
          <a:xfrm>
            <a:off x="6967728" y="1353312"/>
            <a:ext cx="4581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question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1719072"/>
            <a:ext cx="1280160" cy="548640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5" name="Text 13"/>
          <p:cNvSpPr/>
          <p:nvPr/>
        </p:nvSpPr>
        <p:spPr>
          <a:xfrm>
            <a:off x="612648" y="1792224"/>
            <a:ext cx="10607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UUT-1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965960" y="1719072"/>
            <a:ext cx="1828800" cy="548640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7" name="Text 15"/>
          <p:cNvSpPr/>
          <p:nvPr/>
        </p:nvSpPr>
        <p:spPr>
          <a:xfrm>
            <a:off x="2075688" y="1792224"/>
            <a:ext cx="1609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B: TEST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977640" y="1719072"/>
            <a:ext cx="2651760" cy="548640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9" name="Text 17"/>
          <p:cNvSpPr/>
          <p:nvPr/>
        </p:nvSpPr>
        <p:spPr>
          <a:xfrm>
            <a:off x="4087368" y="1792224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S11 / S21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858000" y="1719072"/>
            <a:ext cx="4800600" cy="548640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1" name="Text 19"/>
          <p:cNvSpPr/>
          <p:nvPr/>
        </p:nvSpPr>
        <p:spPr>
          <a:xfrm>
            <a:off x="6967728" y="1792224"/>
            <a:ext cx="4581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component meet its datasheet behavior at 12 GHz?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02920" y="2377440"/>
            <a:ext cx="128016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3" name="Text 21"/>
          <p:cNvSpPr/>
          <p:nvPr/>
        </p:nvSpPr>
        <p:spPr>
          <a:xfrm>
            <a:off x="612648" y="2450592"/>
            <a:ext cx="10607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J_TEST path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1965960" y="2377440"/>
            <a:ext cx="18288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5" name="Text 23"/>
          <p:cNvSpPr/>
          <p:nvPr/>
        </p:nvSpPr>
        <p:spPr>
          <a:xfrm>
            <a:off x="2075688" y="2450592"/>
            <a:ext cx="1609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B: TEST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3977640" y="2377440"/>
            <a:ext cx="265176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7" name="Text 25"/>
          <p:cNvSpPr/>
          <p:nvPr/>
        </p:nvSpPr>
        <p:spPr>
          <a:xfrm>
            <a:off x="4087368" y="2450592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S11 / S21 / phase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858000" y="2377440"/>
            <a:ext cx="48006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9" name="Text 27"/>
          <p:cNvSpPr/>
          <p:nvPr/>
        </p:nvSpPr>
        <p:spPr>
          <a:xfrm>
            <a:off x="6967728" y="2450592"/>
            <a:ext cx="4581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does the test link and connector add?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02920" y="3035808"/>
            <a:ext cx="1280160" cy="548640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1" name="Text 29"/>
          <p:cNvSpPr/>
          <p:nvPr/>
        </p:nvSpPr>
        <p:spPr>
          <a:xfrm>
            <a:off x="612648" y="3108960"/>
            <a:ext cx="10607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J_DIRECT path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1965960" y="3035808"/>
            <a:ext cx="1828800" cy="548640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3" name="Text 31"/>
          <p:cNvSpPr/>
          <p:nvPr/>
        </p:nvSpPr>
        <p:spPr>
          <a:xfrm>
            <a:off x="2075688" y="3108960"/>
            <a:ext cx="1609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DIRECT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3977640" y="3035808"/>
            <a:ext cx="2651760" cy="548640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5" name="Text 33"/>
          <p:cNvSpPr/>
          <p:nvPr/>
        </p:nvSpPr>
        <p:spPr>
          <a:xfrm>
            <a:off x="4087368" y="3108960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S11 / S21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858000" y="3035808"/>
            <a:ext cx="4800600" cy="548640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7" name="Text 35"/>
          <p:cNvSpPr/>
          <p:nvPr/>
        </p:nvSpPr>
        <p:spPr>
          <a:xfrm>
            <a:off x="6967728" y="3108960"/>
            <a:ext cx="4581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final route preserve the direct path?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502920" y="3694176"/>
            <a:ext cx="128016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9" name="Text 37"/>
          <p:cNvSpPr/>
          <p:nvPr/>
        </p:nvSpPr>
        <p:spPr>
          <a:xfrm>
            <a:off x="612648" y="3767328"/>
            <a:ext cx="10607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Inactive branch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1965960" y="3694176"/>
            <a:ext cx="18288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1" name="Text 39"/>
          <p:cNvSpPr/>
          <p:nvPr/>
        </p:nvSpPr>
        <p:spPr>
          <a:xfrm>
            <a:off x="2075688" y="3767328"/>
            <a:ext cx="1609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DIRECT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3977640" y="3694176"/>
            <a:ext cx="265176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3" name="Text 41"/>
          <p:cNvSpPr/>
          <p:nvPr/>
        </p:nvSpPr>
        <p:spPr>
          <a:xfrm>
            <a:off x="4087368" y="3767328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S11 / S21 at NEXT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6858000" y="3694176"/>
            <a:ext cx="48006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5" name="Text 43"/>
          <p:cNvSpPr/>
          <p:nvPr/>
        </p:nvSpPr>
        <p:spPr>
          <a:xfrm>
            <a:off x="6967728" y="3767328"/>
            <a:ext cx="4581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unused test branch disturb the direct route?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502920" y="4352544"/>
            <a:ext cx="1280160" cy="548640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7" name="Text 45"/>
          <p:cNvSpPr/>
          <p:nvPr/>
        </p:nvSpPr>
        <p:spPr>
          <a:xfrm>
            <a:off x="612648" y="4425696"/>
            <a:ext cx="10607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Repeatability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1965960" y="4352544"/>
            <a:ext cx="1828800" cy="548640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9" name="Text 47"/>
          <p:cNvSpPr/>
          <p:nvPr/>
        </p:nvSpPr>
        <p:spPr>
          <a:xfrm>
            <a:off x="2075688" y="4425696"/>
            <a:ext cx="1609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and B x 3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3977640" y="4352544"/>
            <a:ext cx="2651760" cy="548640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1" name="Text 49"/>
          <p:cNvSpPr/>
          <p:nvPr/>
        </p:nvSpPr>
        <p:spPr>
          <a:xfrm>
            <a:off x="4087368" y="4425696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S21 spread</a:t>
            </a:r>
            <a:endParaRPr lang="en-US" sz="1250" dirty="0"/>
          </a:p>
        </p:txBody>
      </p:sp>
      <p:sp>
        <p:nvSpPr>
          <p:cNvPr id="52" name="Shape 50"/>
          <p:cNvSpPr/>
          <p:nvPr/>
        </p:nvSpPr>
        <p:spPr>
          <a:xfrm>
            <a:off x="6858000" y="4352544"/>
            <a:ext cx="4800600" cy="548640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3" name="Text 51"/>
          <p:cNvSpPr/>
          <p:nvPr/>
        </p:nvSpPr>
        <p:spPr>
          <a:xfrm>
            <a:off x="6967728" y="4425696"/>
            <a:ext cx="4581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rework or cable movement change the result?</a:t>
            </a:r>
            <a:endParaRPr lang="en-US" sz="1250" dirty="0"/>
          </a:p>
        </p:txBody>
      </p:sp>
      <p:sp>
        <p:nvSpPr>
          <p:cNvPr id="54" name="Text 52"/>
          <p:cNvSpPr/>
          <p:nvPr/>
        </p:nvSpPr>
        <p:spPr>
          <a:xfrm>
            <a:off x="731520" y="54406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4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same frequency grid, IF bandwidth, power level, calibration, and cable routing for comparable results.</a:t>
            </a:r>
            <a:endParaRPr lang="en-US" sz="1600" dirty="0"/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30" dirty="0">
                <a:solidFill>
                  <a:srgbClr val="1E4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| COMPONENT AND FOOTPRINT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the 0 ohm implementation as an RF part, not a generic resistor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921240" y="393192"/>
            <a:ext cx="1764792" cy="265176"/>
          </a:xfrm>
          <a:prstGeom prst="roundRect">
            <a:avLst/>
          </a:prstGeom>
          <a:solidFill>
            <a:srgbClr val="163458"/>
          </a:solidFill>
          <a:ln w="12700">
            <a:solidFill>
              <a:srgbClr val="16345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/>
          <p:nvPr/>
        </p:nvSpPr>
        <p:spPr>
          <a:xfrm>
            <a:off x="9921240" y="406908"/>
            <a:ext cx="1764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SELECTION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1325880" cy="502920"/>
          </a:xfrm>
          <a:prstGeom prst="roundRect">
            <a:avLst/>
          </a:prstGeom>
          <a:solidFill>
            <a:srgbClr val="1E467D"/>
          </a:solidFill>
          <a:ln w="12700">
            <a:solidFill>
              <a:srgbClr val="1E467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Text 5"/>
          <p:cNvSpPr/>
          <p:nvPr/>
        </p:nvSpPr>
        <p:spPr>
          <a:xfrm>
            <a:off x="749808" y="1490472"/>
            <a:ext cx="110642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148840" y="1417320"/>
            <a:ext cx="38862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9" name="Text 7"/>
          <p:cNvSpPr/>
          <p:nvPr/>
        </p:nvSpPr>
        <p:spPr>
          <a:xfrm>
            <a:off x="2258568" y="1490472"/>
            <a:ext cx="366674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 a small package with a short current path; 0402 is easier to assemble, 0201 can reduce parasitic size.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1417320"/>
            <a:ext cx="1325880" cy="502920"/>
          </a:xfrm>
          <a:prstGeom prst="roundRect">
            <a:avLst/>
          </a:prstGeom>
          <a:solidFill>
            <a:srgbClr val="1E467D"/>
          </a:solidFill>
          <a:ln w="12700">
            <a:solidFill>
              <a:srgbClr val="1E467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Text 9"/>
          <p:cNvSpPr/>
          <p:nvPr/>
        </p:nvSpPr>
        <p:spPr>
          <a:xfrm>
            <a:off x="6373368" y="1490472"/>
            <a:ext cx="110642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Footprint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772400" y="1417320"/>
            <a:ext cx="38862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3" name="Text 11"/>
          <p:cNvSpPr/>
          <p:nvPr/>
        </p:nvSpPr>
        <p:spPr>
          <a:xfrm>
            <a:off x="7882128" y="1490472"/>
            <a:ext cx="366674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 symmetric 50 ohm launch into the link; avoid long rectangular pads that widen the line.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2971800"/>
            <a:ext cx="1325880" cy="502920"/>
          </a:xfrm>
          <a:prstGeom prst="roundRect">
            <a:avLst/>
          </a:prstGeom>
          <a:solidFill>
            <a:srgbClr val="1E467D"/>
          </a:solidFill>
          <a:ln w="12700">
            <a:solidFill>
              <a:srgbClr val="1E467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5" name="Text 13"/>
          <p:cNvSpPr/>
          <p:nvPr/>
        </p:nvSpPr>
        <p:spPr>
          <a:xfrm>
            <a:off x="749808" y="3044952"/>
            <a:ext cx="110642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Solder bridge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148840" y="2971800"/>
            <a:ext cx="38862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7" name="Text 15"/>
          <p:cNvSpPr/>
          <p:nvPr/>
        </p:nvSpPr>
        <p:spPr>
          <a:xfrm>
            <a:off x="2258568" y="3044952"/>
            <a:ext cx="366674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Lowest BOM cost, but manual solder volume and repeatability are harder to control.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63640" y="2971800"/>
            <a:ext cx="1325880" cy="502920"/>
          </a:xfrm>
          <a:prstGeom prst="roundRect">
            <a:avLst/>
          </a:prstGeom>
          <a:solidFill>
            <a:srgbClr val="1E467D"/>
          </a:solidFill>
          <a:ln w="12700">
            <a:solidFill>
              <a:srgbClr val="1E467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9" name="Text 17"/>
          <p:cNvSpPr/>
          <p:nvPr/>
        </p:nvSpPr>
        <p:spPr>
          <a:xfrm>
            <a:off x="6373368" y="3044952"/>
            <a:ext cx="110642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Rework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772400" y="2971800"/>
            <a:ext cx="38862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1" name="Text 19"/>
          <p:cNvSpPr/>
          <p:nvPr/>
        </p:nvSpPr>
        <p:spPr>
          <a:xfrm>
            <a:off x="7882128" y="3044952"/>
            <a:ext cx="366674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access, courtyard, and nearby ground; plan for wick / hot-air rework without lifting pads.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5800" y="4892040"/>
            <a:ext cx="10607040" cy="749808"/>
          </a:xfrm>
          <a:prstGeom prst="roundRect">
            <a:avLst/>
          </a:prstGeom>
          <a:solidFill>
            <a:srgbClr val="FFF5E5"/>
          </a:solidFill>
          <a:ln w="12700">
            <a:solidFill>
              <a:srgbClr val="E8C57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3" name="Text 21"/>
          <p:cNvSpPr/>
          <p:nvPr/>
        </p:nvSpPr>
        <p:spPr>
          <a:xfrm>
            <a:off x="795528" y="4965192"/>
            <a:ext cx="103875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Important: a 0 ohm resistor is not an ideal RF short. Verify the chosen part and footprint with S-parameter data or measure the assembled link.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30" dirty="0">
                <a:solidFill>
                  <a:srgbClr val="1E4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| COMMON FAILURE MODES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populate both links: that creates a splitter, not a selector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921240" y="393192"/>
            <a:ext cx="1764792" cy="265176"/>
          </a:xfrm>
          <a:prstGeom prst="roundRect">
            <a:avLst/>
          </a:prstGeom>
          <a:solidFill>
            <a:srgbClr val="163458"/>
          </a:solidFill>
          <a:ln w="12700">
            <a:solidFill>
              <a:srgbClr val="16345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/>
          <p:nvPr/>
        </p:nvSpPr>
        <p:spPr>
          <a:xfrm>
            <a:off x="9921240" y="406908"/>
            <a:ext cx="1764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BEFORE POWER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349240" y="2331720"/>
            <a:ext cx="914400" cy="502920"/>
          </a:xfrm>
          <a:prstGeom prst="roundRect">
            <a:avLst/>
          </a:prstGeom>
          <a:solidFill>
            <a:srgbClr val="1E467D"/>
          </a:solidFill>
          <a:ln w="19050">
            <a:solidFill>
              <a:srgbClr val="1E467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Text 5"/>
          <p:cNvSpPr/>
          <p:nvPr/>
        </p:nvSpPr>
        <p:spPr>
          <a:xfrm>
            <a:off x="5349240" y="23774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931920" y="2578608"/>
            <a:ext cx="1417320" cy="0"/>
          </a:xfrm>
          <a:prstGeom prst="line">
            <a:avLst/>
          </a:prstGeom>
          <a:noFill/>
          <a:ln w="29210">
            <a:solidFill>
              <a:srgbClr val="1E467D"/>
            </a:solidFill>
            <a:prstDash val="solid"/>
            <a:tail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9" name="Shape 7"/>
          <p:cNvSpPr/>
          <p:nvPr/>
        </p:nvSpPr>
        <p:spPr>
          <a:xfrm>
            <a:off x="6263640" y="2578608"/>
            <a:ext cx="1051560" cy="0"/>
          </a:xfrm>
          <a:prstGeom prst="line">
            <a:avLst/>
          </a:prstGeom>
          <a:noFill/>
          <a:ln w="29210">
            <a:solidFill>
              <a:srgbClr val="B54747"/>
            </a:solidFill>
            <a:prstDash val="solid"/>
            <a:tail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10" name="Shape 8"/>
          <p:cNvSpPr/>
          <p:nvPr/>
        </p:nvSpPr>
        <p:spPr>
          <a:xfrm>
            <a:off x="6263640" y="2578608"/>
            <a:ext cx="1051560" cy="658368"/>
          </a:xfrm>
          <a:prstGeom prst="line">
            <a:avLst/>
          </a:prstGeom>
          <a:noFill/>
          <a:ln w="29210">
            <a:solidFill>
              <a:srgbClr val="B54747"/>
            </a:solidFill>
            <a:prstDash val="solid"/>
            <a:tail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11" name="Shape 9"/>
          <p:cNvSpPr/>
          <p:nvPr/>
        </p:nvSpPr>
        <p:spPr>
          <a:xfrm>
            <a:off x="7498080" y="1664208"/>
            <a:ext cx="914400" cy="502920"/>
          </a:xfrm>
          <a:prstGeom prst="roundRect">
            <a:avLst/>
          </a:prstGeom>
          <a:solidFill>
            <a:srgbClr val="FCE8E8"/>
          </a:solidFill>
          <a:ln w="19050">
            <a:solidFill>
              <a:srgbClr val="B5474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2" name="Text 10"/>
          <p:cNvSpPr/>
          <p:nvPr/>
        </p:nvSpPr>
        <p:spPr>
          <a:xfrm>
            <a:off x="7498080" y="170992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498080" y="2990088"/>
            <a:ext cx="914400" cy="502920"/>
          </a:xfrm>
          <a:prstGeom prst="roundRect">
            <a:avLst/>
          </a:prstGeom>
          <a:solidFill>
            <a:srgbClr val="FCE8E8"/>
          </a:solidFill>
          <a:ln w="19050">
            <a:solidFill>
              <a:srgbClr val="B5474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4" name="Text 12"/>
          <p:cNvSpPr/>
          <p:nvPr/>
        </p:nvSpPr>
        <p:spPr>
          <a:xfrm>
            <a:off x="7498080" y="303580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26280" y="1417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547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POPULATED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2960" y="4160520"/>
            <a:ext cx="466344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RF component now sees two destinations in parallel.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splits and the two loads interact through the branch.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test connector cable can change the final path response.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a visual inspection or continuity check before every VNA run.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17920" y="4617720"/>
            <a:ext cx="4800600" cy="731520"/>
          </a:xfrm>
          <a:prstGeom prst="roundRect">
            <a:avLst/>
          </a:prstGeom>
          <a:solidFill>
            <a:srgbClr val="163458"/>
          </a:solidFill>
          <a:ln w="12700">
            <a:solidFill>
              <a:srgbClr val="16345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8" name="Text 16"/>
          <p:cNvSpPr/>
          <p:nvPr/>
        </p:nvSpPr>
        <p:spPr>
          <a:xfrm>
            <a:off x="6327648" y="4690872"/>
            <a:ext cx="45811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Assembly rule: exactly one of J_DIRECT and J_TEST is populated for a valid 1:2 build state.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30" dirty="0">
                <a:solidFill>
                  <a:srgbClr val="1E4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| RECOMMENDED IMPLEMENTATION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Thesis-ready recommendation: one low-cost board, two controlled builds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921240" y="393192"/>
            <a:ext cx="1764792" cy="265176"/>
          </a:xfrm>
          <a:prstGeom prst="roundRect">
            <a:avLst/>
          </a:prstGeom>
          <a:solidFill>
            <a:srgbClr val="163458"/>
          </a:solidFill>
          <a:ln w="12700">
            <a:solidFill>
              <a:srgbClr val="16345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/>
          <p:nvPr/>
        </p:nvSpPr>
        <p:spPr>
          <a:xfrm>
            <a:off x="9921240" y="406908"/>
            <a:ext cx="1764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PROPOSAL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1325880"/>
            <a:ext cx="2057400" cy="502920"/>
          </a:xfrm>
          <a:prstGeom prst="roundRect">
            <a:avLst/>
          </a:prstGeom>
          <a:solidFill>
            <a:srgbClr val="163458"/>
          </a:solidFill>
          <a:ln w="12700">
            <a:solidFill>
              <a:srgbClr val="16345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Text 5"/>
          <p:cNvSpPr/>
          <p:nvPr/>
        </p:nvSpPr>
        <p:spPr>
          <a:xfrm>
            <a:off x="795528" y="1399032"/>
            <a:ext cx="183794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design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1965960" cy="1920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ohm RF traces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Compact branch node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J_DIRECT and J_TEST footprints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connector footprint with DNP option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silkscreen: DIRECT / TEST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46120" y="1325880"/>
            <a:ext cx="2057400" cy="502920"/>
          </a:xfrm>
          <a:prstGeom prst="roundRect">
            <a:avLst/>
          </a:prstGeom>
          <a:solidFill>
            <a:srgbClr val="1E467D"/>
          </a:solidFill>
          <a:ln w="12700">
            <a:solidFill>
              <a:srgbClr val="1E467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Text 8"/>
          <p:cNvSpPr/>
          <p:nvPr/>
        </p:nvSpPr>
        <p:spPr>
          <a:xfrm>
            <a:off x="3355848" y="1399032"/>
            <a:ext cx="183794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Characterize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37560" y="1965960"/>
            <a:ext cx="1965960" cy="1920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Populate J_TEST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each component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test route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raw Touchstone data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against datasheet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806440" y="1325880"/>
            <a:ext cx="2057400" cy="502920"/>
          </a:xfrm>
          <a:prstGeom prst="round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3" name="Text 11"/>
          <p:cNvSpPr/>
          <p:nvPr/>
        </p:nvSpPr>
        <p:spPr>
          <a:xfrm>
            <a:off x="5916168" y="1399032"/>
            <a:ext cx="183794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Finalize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897880" y="1965960"/>
            <a:ext cx="1965960" cy="1920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Populate J_DIRECT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DNP J_TEST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DNP or terminate connector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final measurement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difference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366760" y="1325880"/>
            <a:ext cx="2057400" cy="502920"/>
          </a:xfrm>
          <a:prstGeom prst="round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6" name="Text 14"/>
          <p:cNvSpPr/>
          <p:nvPr/>
        </p:nvSpPr>
        <p:spPr>
          <a:xfrm>
            <a:off x="8476488" y="1399032"/>
            <a:ext cx="183794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58200" y="1965960"/>
            <a:ext cx="1965960" cy="1920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Photos of both states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BOM population table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VNA calibration record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S11 / S21 plots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Uncertainty and limitations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743200" y="1581912"/>
            <a:ext cx="411480" cy="0"/>
          </a:xfrm>
          <a:prstGeom prst="line">
            <a:avLst/>
          </a:prstGeom>
          <a:noFill/>
          <a:ln w="25400">
            <a:solidFill>
              <a:srgbClr val="D0D5DD"/>
            </a:solidFill>
            <a:prstDash val="solid"/>
            <a:tail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19" name="Shape 17"/>
          <p:cNvSpPr/>
          <p:nvPr/>
        </p:nvSpPr>
        <p:spPr>
          <a:xfrm>
            <a:off x="5303520" y="1581912"/>
            <a:ext cx="411480" cy="0"/>
          </a:xfrm>
          <a:prstGeom prst="line">
            <a:avLst/>
          </a:prstGeom>
          <a:noFill/>
          <a:ln w="25400">
            <a:solidFill>
              <a:srgbClr val="D0D5DD"/>
            </a:solidFill>
            <a:prstDash val="solid"/>
            <a:tail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20" name="Shape 18"/>
          <p:cNvSpPr/>
          <p:nvPr/>
        </p:nvSpPr>
        <p:spPr>
          <a:xfrm>
            <a:off x="7863840" y="1581912"/>
            <a:ext cx="411480" cy="0"/>
          </a:xfrm>
          <a:prstGeom prst="line">
            <a:avLst/>
          </a:prstGeom>
          <a:noFill/>
          <a:ln w="25400">
            <a:solidFill>
              <a:srgbClr val="D0D5DD"/>
            </a:solidFill>
            <a:prstDash val="solid"/>
            <a:tail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21" name="Shape 19"/>
          <p:cNvSpPr/>
          <p:nvPr/>
        </p:nvSpPr>
        <p:spPr>
          <a:xfrm>
            <a:off x="731520" y="4709160"/>
            <a:ext cx="10561320" cy="777240"/>
          </a:xfrm>
          <a:prstGeom prst="roundRect">
            <a:avLst/>
          </a:prstGeom>
          <a:solidFill>
            <a:srgbClr val="163458"/>
          </a:solidFill>
          <a:ln w="12700">
            <a:solidFill>
              <a:srgbClr val="16345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2" name="Text 20"/>
          <p:cNvSpPr/>
          <p:nvPr/>
        </p:nvSpPr>
        <p:spPr>
          <a:xfrm>
            <a:off x="841248" y="4782312"/>
            <a:ext cx="1034186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gives you a defensible thesis story: measure the device, quantify the test path, then quantify the impact of the final direct path.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30" dirty="0">
                <a:solidFill>
                  <a:srgbClr val="1E4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| AWR + KICAD WORKFLOW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the selector in four models, from simple to realistic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921240" y="393192"/>
            <a:ext cx="1764792" cy="265176"/>
          </a:xfrm>
          <a:prstGeom prst="roundRect">
            <a:avLst/>
          </a:prstGeom>
          <a:solidFill>
            <a:srgbClr val="163458"/>
          </a:solidFill>
          <a:ln w="12700">
            <a:solidFill>
              <a:srgbClr val="16345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/>
          <p:nvPr/>
        </p:nvSpPr>
        <p:spPr>
          <a:xfrm>
            <a:off x="9921240" y="406908"/>
            <a:ext cx="1764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HIERARCHY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417320"/>
            <a:ext cx="475488" cy="475488"/>
          </a:xfrm>
          <a:prstGeom prst="roundRect">
            <a:avLst/>
          </a:prstGeom>
          <a:solidFill>
            <a:srgbClr val="1E467D"/>
          </a:solidFill>
          <a:ln w="12700">
            <a:solidFill>
              <a:srgbClr val="1E467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Text 5"/>
          <p:cNvSpPr/>
          <p:nvPr/>
        </p:nvSpPr>
        <p:spPr>
          <a:xfrm>
            <a:off x="704088" y="1490472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16152" y="14447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circuit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20574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the logic: one input, two mutually exclusive outputs.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063240" y="1655064"/>
            <a:ext cx="274320" cy="0"/>
          </a:xfrm>
          <a:prstGeom prst="line">
            <a:avLst/>
          </a:prstGeom>
          <a:noFill/>
          <a:ln w="25400">
            <a:solidFill>
              <a:srgbClr val="D0D5DD"/>
            </a:solidFill>
            <a:prstDash val="solid"/>
            <a:tail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11" name="Shape 9"/>
          <p:cNvSpPr/>
          <p:nvPr/>
        </p:nvSpPr>
        <p:spPr>
          <a:xfrm>
            <a:off x="3429000" y="1417320"/>
            <a:ext cx="475488" cy="475488"/>
          </a:xfrm>
          <a:prstGeom prst="roundRect">
            <a:avLst/>
          </a:prstGeom>
          <a:solidFill>
            <a:srgbClr val="1E467D"/>
          </a:solidFill>
          <a:ln w="12700">
            <a:solidFill>
              <a:srgbClr val="1E467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2" name="Text 10"/>
          <p:cNvSpPr/>
          <p:nvPr/>
        </p:nvSpPr>
        <p:spPr>
          <a:xfrm>
            <a:off x="3538728" y="1490472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050792" y="14447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Transmission-line model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20440" y="20574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50 ohm lines, branch length, pads, and connector launches.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897880" y="1655064"/>
            <a:ext cx="274320" cy="0"/>
          </a:xfrm>
          <a:prstGeom prst="line">
            <a:avLst/>
          </a:prstGeom>
          <a:noFill/>
          <a:ln w="25400">
            <a:solidFill>
              <a:srgbClr val="D0D5DD"/>
            </a:solidFill>
            <a:prstDash val="solid"/>
            <a:tail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16" name="Shape 14"/>
          <p:cNvSpPr/>
          <p:nvPr/>
        </p:nvSpPr>
        <p:spPr>
          <a:xfrm>
            <a:off x="6263640" y="1417320"/>
            <a:ext cx="475488" cy="475488"/>
          </a:xfrm>
          <a:prstGeom prst="roundRect">
            <a:avLst/>
          </a:prstGeom>
          <a:solidFill>
            <a:srgbClr val="1E467D"/>
          </a:solidFill>
          <a:ln w="12700">
            <a:solidFill>
              <a:srgbClr val="1E467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7" name="Text 15"/>
          <p:cNvSpPr/>
          <p:nvPr/>
        </p:nvSpPr>
        <p:spPr>
          <a:xfrm>
            <a:off x="6373368" y="1490472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885432" y="14447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model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55080" y="20574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coupling, discontinuities, vias, and the real ground plane.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732520" y="1655064"/>
            <a:ext cx="274320" cy="0"/>
          </a:xfrm>
          <a:prstGeom prst="line">
            <a:avLst/>
          </a:prstGeom>
          <a:noFill/>
          <a:ln w="25400">
            <a:solidFill>
              <a:srgbClr val="D0D5DD"/>
            </a:solidFill>
            <a:prstDash val="solid"/>
            <a:tail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21" name="Shape 19"/>
          <p:cNvSpPr/>
          <p:nvPr/>
        </p:nvSpPr>
        <p:spPr>
          <a:xfrm>
            <a:off x="9098280" y="1417320"/>
            <a:ext cx="475488" cy="475488"/>
          </a:xfrm>
          <a:prstGeom prst="roundRect">
            <a:avLst/>
          </a:prstGeom>
          <a:solidFill>
            <a:srgbClr val="1E467D"/>
          </a:solidFill>
          <a:ln w="12700">
            <a:solidFill>
              <a:srgbClr val="1E467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2" name="Text 20"/>
          <p:cNvSpPr/>
          <p:nvPr/>
        </p:nvSpPr>
        <p:spPr>
          <a:xfrm>
            <a:off x="9208008" y="1490472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720072" y="14447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board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89720" y="20574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S-parameters and update the model assumptions.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31520" y="4892040"/>
            <a:ext cx="10561320" cy="777240"/>
          </a:xfrm>
          <a:prstGeom prst="roundRect">
            <a:avLst/>
          </a:prstGeom>
          <a:solidFill>
            <a:srgbClr val="163458"/>
          </a:solidFill>
          <a:ln w="12700">
            <a:solidFill>
              <a:srgbClr val="16345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6" name="Text 24"/>
          <p:cNvSpPr/>
          <p:nvPr/>
        </p:nvSpPr>
        <p:spPr>
          <a:xfrm>
            <a:off x="841248" y="4965192"/>
            <a:ext cx="1034186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start in KiCad by drawing a beautiful board. Start by proving the RF topology and dimensions in AWR, then transfer the controlled geometry deliberately.</a:t>
            </a:r>
            <a:endParaRPr lang="en-US" sz="18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30" dirty="0">
                <a:solidFill>
                  <a:srgbClr val="1E4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| AWR PREPARATION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freeze the design inputs before opening the simulator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921240" y="393192"/>
            <a:ext cx="1764792" cy="265176"/>
          </a:xfrm>
          <a:prstGeom prst="roundRect">
            <a:avLst/>
          </a:prstGeom>
          <a:solidFill>
            <a:srgbClr val="163458"/>
          </a:solidFill>
          <a:ln w="12700">
            <a:solidFill>
              <a:srgbClr val="16345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/>
          <p:nvPr/>
        </p:nvSpPr>
        <p:spPr>
          <a:xfrm>
            <a:off x="9921240" y="406908"/>
            <a:ext cx="1764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1234440"/>
            <a:ext cx="438912" cy="265176"/>
          </a:xfrm>
          <a:prstGeom prst="roundRect">
            <a:avLst/>
          </a:prstGeom>
          <a:solidFill>
            <a:srgbClr val="1E467D"/>
          </a:solidFill>
          <a:ln w="12700">
            <a:solidFill>
              <a:srgbClr val="1E467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Text 5"/>
          <p:cNvSpPr/>
          <p:nvPr/>
        </p:nvSpPr>
        <p:spPr>
          <a:xfrm>
            <a:off x="685800" y="1248156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25880" y="126187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Frequency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743200" y="1261872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/ stop frequency, for example 10 to 14 GHz if 12 GHz is the center.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85800" y="1947672"/>
            <a:ext cx="438912" cy="265176"/>
          </a:xfrm>
          <a:prstGeom prst="roundRect">
            <a:avLst/>
          </a:prstGeom>
          <a:solidFill>
            <a:srgbClr val="1E467D"/>
          </a:solidFill>
          <a:ln w="12700">
            <a:solidFill>
              <a:srgbClr val="1E467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Text 9"/>
          <p:cNvSpPr/>
          <p:nvPr/>
        </p:nvSpPr>
        <p:spPr>
          <a:xfrm>
            <a:off x="685800" y="196138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25880" y="1975104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Impedance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743200" y="1975104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ohm system; define acceptable S11, S21, and isolation limits.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85800" y="2660904"/>
            <a:ext cx="438912" cy="265176"/>
          </a:xfrm>
          <a:prstGeom prst="roundRect">
            <a:avLst/>
          </a:prstGeom>
          <a:solidFill>
            <a:srgbClr val="1E467D"/>
          </a:solidFill>
          <a:ln w="12700">
            <a:solidFill>
              <a:srgbClr val="1E467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5" name="Text 13"/>
          <p:cNvSpPr/>
          <p:nvPr/>
        </p:nvSpPr>
        <p:spPr>
          <a:xfrm>
            <a:off x="685800" y="2674620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325880" y="268833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Stack-up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743200" y="2688336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Substrate Dk, loss tangent, thickness, copper thickness, soldermask assumption.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85800" y="3374136"/>
            <a:ext cx="438912" cy="265176"/>
          </a:xfrm>
          <a:prstGeom prst="roundRect">
            <a:avLst/>
          </a:prstGeom>
          <a:solidFill>
            <a:srgbClr val="1E467D"/>
          </a:solidFill>
          <a:ln w="12700">
            <a:solidFill>
              <a:srgbClr val="1E467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9" name="Text 17"/>
          <p:cNvSpPr/>
          <p:nvPr/>
        </p:nvSpPr>
        <p:spPr>
          <a:xfrm>
            <a:off x="685800" y="3387852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325880" y="340156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743200" y="3401568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 component package, pad dimensions, 0 ohm link package, connector footprint.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85800" y="4087368"/>
            <a:ext cx="438912" cy="265176"/>
          </a:xfrm>
          <a:prstGeom prst="roundRect">
            <a:avLst/>
          </a:prstGeom>
          <a:solidFill>
            <a:srgbClr val="1E467D"/>
          </a:solidFill>
          <a:ln w="12700">
            <a:solidFill>
              <a:srgbClr val="1E467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3" name="Text 21"/>
          <p:cNvSpPr/>
          <p:nvPr/>
        </p:nvSpPr>
        <p:spPr>
          <a:xfrm>
            <a:off x="685800" y="4101084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325880" y="411480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2743200" y="411480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A: J_DIRECT populated. State B: J_TEST populated. Never model both as the valid state.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85800" y="4800600"/>
            <a:ext cx="438912" cy="265176"/>
          </a:xfrm>
          <a:prstGeom prst="roundRect">
            <a:avLst/>
          </a:prstGeom>
          <a:solidFill>
            <a:srgbClr val="1E467D"/>
          </a:solidFill>
          <a:ln w="12700">
            <a:solidFill>
              <a:srgbClr val="1E467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7" name="Text 25"/>
          <p:cNvSpPr/>
          <p:nvPr/>
        </p:nvSpPr>
        <p:spPr>
          <a:xfrm>
            <a:off x="685800" y="4814316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325880" y="482803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Boundary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2743200" y="4828032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the VNA reference plane: board connector, component pin, or de-embedded plane.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731520" y="5577840"/>
            <a:ext cx="10561320" cy="566928"/>
          </a:xfrm>
          <a:prstGeom prst="roundRect">
            <a:avLst/>
          </a:prstGeom>
          <a:solidFill>
            <a:srgbClr val="FFF5E5"/>
          </a:solidFill>
          <a:ln w="12700">
            <a:solidFill>
              <a:srgbClr val="E8C57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1" name="Text 29"/>
          <p:cNvSpPr/>
          <p:nvPr/>
        </p:nvSpPr>
        <p:spPr>
          <a:xfrm>
            <a:off x="841248" y="5650992"/>
            <a:ext cx="10341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the PCB manufacturer for the controlled-impedance stack-up before selecting trace widths. Do not use a generic calculator value as the final dimension.</a:t>
            </a:r>
            <a:endParaRPr lang="en-US" sz="15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30" dirty="0">
                <a:solidFill>
                  <a:srgbClr val="1E4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| AWR SCHEMATIC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build the ideal 1:2 selector schematic in AWR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921240" y="393192"/>
            <a:ext cx="1764792" cy="265176"/>
          </a:xfrm>
          <a:prstGeom prst="roundRect">
            <a:avLst/>
          </a:prstGeom>
          <a:solidFill>
            <a:srgbClr val="163458"/>
          </a:solidFill>
          <a:ln w="12700">
            <a:solidFill>
              <a:srgbClr val="16345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/>
          <p:nvPr/>
        </p:nvSpPr>
        <p:spPr>
          <a:xfrm>
            <a:off x="9921240" y="406908"/>
            <a:ext cx="1764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SIMULATION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1234440" cy="621792"/>
          </a:xfrm>
          <a:prstGeom prst="roundRect">
            <a:avLst/>
          </a:prstGeom>
          <a:solidFill>
            <a:srgbClr val="EAF2FB"/>
          </a:solidFill>
          <a:ln w="19050">
            <a:solidFill>
              <a:srgbClr val="1E467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1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 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874520" y="2871216"/>
            <a:ext cx="1234440" cy="0"/>
          </a:xfrm>
          <a:prstGeom prst="line">
            <a:avLst/>
          </a:prstGeom>
          <a:noFill/>
          <a:ln w="31750">
            <a:solidFill>
              <a:srgbClr val="1E467D"/>
            </a:solidFill>
            <a:prstDash val="solid"/>
            <a:tail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9" name="Shape 7"/>
          <p:cNvSpPr/>
          <p:nvPr/>
        </p:nvSpPr>
        <p:spPr>
          <a:xfrm>
            <a:off x="3246120" y="2560320"/>
            <a:ext cx="1325880" cy="621792"/>
          </a:xfrm>
          <a:prstGeom prst="roundRect">
            <a:avLst/>
          </a:prstGeom>
          <a:solidFill>
            <a:srgbClr val="EAF2FB"/>
          </a:solidFill>
          <a:ln w="19050">
            <a:solidFill>
              <a:srgbClr val="1E467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Text 8"/>
          <p:cNvSpPr/>
          <p:nvPr/>
        </p:nvSpPr>
        <p:spPr>
          <a:xfrm>
            <a:off x="3246120" y="2606040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0" y="2871216"/>
            <a:ext cx="960120" cy="0"/>
          </a:xfrm>
          <a:prstGeom prst="line">
            <a:avLst/>
          </a:prstGeom>
          <a:noFill/>
          <a:ln w="31750">
            <a:solidFill>
              <a:srgbClr val="1E467D"/>
            </a:solidFill>
            <a:prstDash val="solid"/>
            <a:tail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12" name="Shape 10"/>
          <p:cNvSpPr/>
          <p:nvPr/>
        </p:nvSpPr>
        <p:spPr>
          <a:xfrm>
            <a:off x="5669280" y="2606040"/>
            <a:ext cx="914400" cy="530352"/>
          </a:xfrm>
          <a:prstGeom prst="roundRect">
            <a:avLst/>
          </a:prstGeom>
          <a:solidFill>
            <a:srgbClr val="1E467D"/>
          </a:solidFill>
          <a:ln w="19050">
            <a:solidFill>
              <a:srgbClr val="1E467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3" name="Text 11"/>
          <p:cNvSpPr/>
          <p:nvPr/>
        </p:nvSpPr>
        <p:spPr>
          <a:xfrm>
            <a:off x="5669280" y="265176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83680" y="2871216"/>
            <a:ext cx="777240" cy="0"/>
          </a:xfrm>
          <a:prstGeom prst="line">
            <a:avLst/>
          </a:prstGeom>
          <a:noFill/>
          <a:ln w="31750">
            <a:solidFill>
              <a:srgbClr val="2E7D5B"/>
            </a:solidFill>
            <a:prstDash val="solid"/>
            <a:tail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15" name="Shape 13"/>
          <p:cNvSpPr/>
          <p:nvPr/>
        </p:nvSpPr>
        <p:spPr>
          <a:xfrm>
            <a:off x="6583680" y="2871216"/>
            <a:ext cx="777240" cy="786384"/>
          </a:xfrm>
          <a:prstGeom prst="line">
            <a:avLst/>
          </a:prstGeom>
          <a:noFill/>
          <a:ln w="31750">
            <a:solidFill>
              <a:srgbClr val="B7791F"/>
            </a:solidFill>
            <a:prstDash val="solid"/>
            <a:tail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16" name="Shape 14"/>
          <p:cNvSpPr/>
          <p:nvPr/>
        </p:nvSpPr>
        <p:spPr>
          <a:xfrm>
            <a:off x="7498080" y="1783080"/>
            <a:ext cx="1188720" cy="530352"/>
          </a:xfrm>
          <a:prstGeom prst="roundRect">
            <a:avLst/>
          </a:prstGeom>
          <a:solidFill>
            <a:srgbClr val="E8F5EF"/>
          </a:solidFill>
          <a:ln w="1905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7" name="Text 15"/>
          <p:cNvSpPr/>
          <p:nvPr/>
        </p:nvSpPr>
        <p:spPr>
          <a:xfrm>
            <a:off x="7498080" y="182880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J_DIRECT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498080" y="3383280"/>
            <a:ext cx="1188720" cy="530352"/>
          </a:xfrm>
          <a:prstGeom prst="roundRect">
            <a:avLst/>
          </a:prstGeom>
          <a:solidFill>
            <a:srgbClr val="FFF5E5"/>
          </a:solidFill>
          <a:ln w="1905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9" name="Text 17"/>
          <p:cNvSpPr/>
          <p:nvPr/>
        </p:nvSpPr>
        <p:spPr>
          <a:xfrm>
            <a:off x="7498080" y="342900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J_TEST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686800" y="2048256"/>
            <a:ext cx="685800" cy="0"/>
          </a:xfrm>
          <a:prstGeom prst="line">
            <a:avLst/>
          </a:prstGeom>
          <a:noFill/>
          <a:ln w="31750">
            <a:solidFill>
              <a:srgbClr val="2E7D5B"/>
            </a:solidFill>
            <a:prstDash val="solid"/>
            <a:tail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21" name="Shape 19"/>
          <p:cNvSpPr/>
          <p:nvPr/>
        </p:nvSpPr>
        <p:spPr>
          <a:xfrm>
            <a:off x="8686800" y="3648456"/>
            <a:ext cx="685800" cy="0"/>
          </a:xfrm>
          <a:prstGeom prst="line">
            <a:avLst/>
          </a:prstGeom>
          <a:noFill/>
          <a:ln w="31750">
            <a:solidFill>
              <a:srgbClr val="B7791F"/>
            </a:solidFill>
            <a:prstDash val="solid"/>
            <a:tail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22" name="Shape 20"/>
          <p:cNvSpPr/>
          <p:nvPr/>
        </p:nvSpPr>
        <p:spPr>
          <a:xfrm>
            <a:off x="9509760" y="1783080"/>
            <a:ext cx="1188720" cy="530352"/>
          </a:xfrm>
          <a:prstGeom prst="roundRect">
            <a:avLst/>
          </a:prstGeom>
          <a:solidFill>
            <a:srgbClr val="E8F5EF"/>
          </a:solidFill>
          <a:ln w="1905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3" name="Text 21"/>
          <p:cNvSpPr/>
          <p:nvPr/>
        </p:nvSpPr>
        <p:spPr>
          <a:xfrm>
            <a:off x="9509760" y="182880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2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509760" y="3383280"/>
            <a:ext cx="1188720" cy="530352"/>
          </a:xfrm>
          <a:prstGeom prst="roundRect">
            <a:avLst/>
          </a:prstGeom>
          <a:solidFill>
            <a:srgbClr val="FFF5E5"/>
          </a:solidFill>
          <a:ln w="1905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5" name="Text 23"/>
          <p:cNvSpPr/>
          <p:nvPr/>
        </p:nvSpPr>
        <p:spPr>
          <a:xfrm>
            <a:off x="9509760" y="342900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3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77240" y="4846320"/>
            <a:ext cx="1051560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ideal ports and an ideal switch/link first to verify the signal-flow logic.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 State A and State B as separate schematics or separate link values.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 S21 for the selected route and S31 for the alternate route; confirm the inactive route is not accidentally connected.</a:t>
            </a:r>
            <a:endParaRPr lang="en-US" sz="14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30" dirty="0">
                <a:solidFill>
                  <a:srgbClr val="1E4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| TRANSMISSION-LINE MODEL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replace ideal wires with AWR microstrip models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921240" y="393192"/>
            <a:ext cx="1764792" cy="265176"/>
          </a:xfrm>
          <a:prstGeom prst="roundRect">
            <a:avLst/>
          </a:prstGeom>
          <a:solidFill>
            <a:srgbClr val="163458"/>
          </a:solidFill>
          <a:ln w="12700">
            <a:solidFill>
              <a:srgbClr val="16345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/>
          <p:nvPr/>
        </p:nvSpPr>
        <p:spPr>
          <a:xfrm>
            <a:off x="9921240" y="406908"/>
            <a:ext cx="1764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MSUB + MLIN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77240" y="1280160"/>
            <a:ext cx="1417320" cy="502920"/>
          </a:xfrm>
          <a:prstGeom prst="roundRect">
            <a:avLst/>
          </a:prstGeom>
          <a:solidFill>
            <a:srgbClr val="1E467D"/>
          </a:solidFill>
          <a:ln w="12700">
            <a:solidFill>
              <a:srgbClr val="1E467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Text 5"/>
          <p:cNvSpPr/>
          <p:nvPr/>
        </p:nvSpPr>
        <p:spPr>
          <a:xfrm>
            <a:off x="886968" y="1353312"/>
            <a:ext cx="11978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MSUB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514600" y="131673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substrate and copper stack-up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77240" y="2029968"/>
            <a:ext cx="1417320" cy="502920"/>
          </a:xfrm>
          <a:prstGeom prst="roundRect">
            <a:avLst/>
          </a:prstGeom>
          <a:solidFill>
            <a:srgbClr val="1E467D"/>
          </a:solidFill>
          <a:ln w="12700">
            <a:solidFill>
              <a:srgbClr val="1E467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Text 8"/>
          <p:cNvSpPr/>
          <p:nvPr/>
        </p:nvSpPr>
        <p:spPr>
          <a:xfrm>
            <a:off x="886968" y="2103120"/>
            <a:ext cx="11978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MLIN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514600" y="206654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width, length, metal thickness, and substrate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77240" y="2779776"/>
            <a:ext cx="1417320" cy="502920"/>
          </a:xfrm>
          <a:prstGeom prst="roundRect">
            <a:avLst/>
          </a:prstGeom>
          <a:solidFill>
            <a:srgbClr val="1E467D"/>
          </a:solidFill>
          <a:ln w="12700">
            <a:solidFill>
              <a:srgbClr val="1E467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3" name="Text 11"/>
          <p:cNvSpPr/>
          <p:nvPr/>
        </p:nvSpPr>
        <p:spPr>
          <a:xfrm>
            <a:off x="886968" y="2852928"/>
            <a:ext cx="11978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MTEE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514600" y="281635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the branch junction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77240" y="3529584"/>
            <a:ext cx="1417320" cy="502920"/>
          </a:xfrm>
          <a:prstGeom prst="roundRect">
            <a:avLst/>
          </a:prstGeom>
          <a:solidFill>
            <a:srgbClr val="1E467D"/>
          </a:solidFill>
          <a:ln w="12700">
            <a:solidFill>
              <a:srgbClr val="1E467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6" name="Text 14"/>
          <p:cNvSpPr/>
          <p:nvPr/>
        </p:nvSpPr>
        <p:spPr>
          <a:xfrm>
            <a:off x="886968" y="3602736"/>
            <a:ext cx="11978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MSTEP / MOPEN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514600" y="35661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width transitions and open ends where applicable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77240" y="4279392"/>
            <a:ext cx="1417320" cy="502920"/>
          </a:xfrm>
          <a:prstGeom prst="roundRect">
            <a:avLst/>
          </a:prstGeom>
          <a:solidFill>
            <a:srgbClr val="1E467D"/>
          </a:solidFill>
          <a:ln w="12700">
            <a:solidFill>
              <a:srgbClr val="1E467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9" name="Text 17"/>
          <p:cNvSpPr/>
          <p:nvPr/>
        </p:nvSpPr>
        <p:spPr>
          <a:xfrm>
            <a:off x="886968" y="4352544"/>
            <a:ext cx="11978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514600" y="431596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reference impedance and calibration reference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77240" y="5303520"/>
            <a:ext cx="10561320" cy="640080"/>
          </a:xfrm>
          <a:prstGeom prst="roundRect">
            <a:avLst/>
          </a:prstGeom>
          <a:solidFill>
            <a:srgbClr val="163458"/>
          </a:solidFill>
          <a:ln w="12700">
            <a:solidFill>
              <a:srgbClr val="16345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2" name="Text 20"/>
          <p:cNvSpPr/>
          <p:nvPr/>
        </p:nvSpPr>
        <p:spPr>
          <a:xfrm>
            <a:off x="886968" y="5376672"/>
            <a:ext cx="103418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Parameterize before optimizing: line width W, branch length Lbranch, pad length Lpad, pad width Wpad, and connector transition dimensions.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30" dirty="0">
                <a:solidFill>
                  <a:srgbClr val="1E4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| MODELS AND DATA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add realistic component and connector data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921240" y="393192"/>
            <a:ext cx="1764792" cy="265176"/>
          </a:xfrm>
          <a:prstGeom prst="roundRect">
            <a:avLst/>
          </a:prstGeom>
          <a:solidFill>
            <a:srgbClr val="163458"/>
          </a:solidFill>
          <a:ln w="12700">
            <a:solidFill>
              <a:srgbClr val="16345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/>
          <p:nvPr/>
        </p:nvSpPr>
        <p:spPr>
          <a:xfrm>
            <a:off x="9921240" y="406908"/>
            <a:ext cx="1764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S-PARAMETERS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417320"/>
            <a:ext cx="1645920" cy="502920"/>
          </a:xfrm>
          <a:prstGeom prst="roundRect">
            <a:avLst/>
          </a:prstGeom>
          <a:solidFill>
            <a:srgbClr val="1E467D"/>
          </a:solidFill>
          <a:ln w="12700">
            <a:solidFill>
              <a:srgbClr val="1E467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Text 5"/>
          <p:cNvSpPr/>
          <p:nvPr/>
        </p:nvSpPr>
        <p:spPr>
          <a:xfrm>
            <a:off x="704088" y="1490472"/>
            <a:ext cx="14264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 component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423160" y="1417320"/>
            <a:ext cx="35204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9" name="Text 7"/>
          <p:cNvSpPr/>
          <p:nvPr/>
        </p:nvSpPr>
        <p:spPr>
          <a:xfrm>
            <a:off x="2532888" y="1490472"/>
            <a:ext cx="330098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vendor S2P file if available. Check port order, impedance, frequency span, and de-embedding plane.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417320"/>
            <a:ext cx="1645920" cy="502920"/>
          </a:xfrm>
          <a:prstGeom prst="roundRect">
            <a:avLst/>
          </a:prstGeom>
          <a:solidFill>
            <a:srgbClr val="1E467D"/>
          </a:solidFill>
          <a:ln w="12700">
            <a:solidFill>
              <a:srgbClr val="1E467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Text 9"/>
          <p:cNvSpPr/>
          <p:nvPr/>
        </p:nvSpPr>
        <p:spPr>
          <a:xfrm>
            <a:off x="6327648" y="1490472"/>
            <a:ext cx="14264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ohm link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46720" y="1417320"/>
            <a:ext cx="35204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3" name="Text 11"/>
          <p:cNvSpPr/>
          <p:nvPr/>
        </p:nvSpPr>
        <p:spPr>
          <a:xfrm>
            <a:off x="8156448" y="1490472"/>
            <a:ext cx="330098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an ideal short, then replace it with vendor S-parameters or a measured coupon.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" y="3017520"/>
            <a:ext cx="1645920" cy="502920"/>
          </a:xfrm>
          <a:prstGeom prst="roundRect">
            <a:avLst/>
          </a:prstGeom>
          <a:solidFill>
            <a:srgbClr val="1E467D"/>
          </a:solidFill>
          <a:ln w="12700">
            <a:solidFill>
              <a:srgbClr val="1E467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5" name="Text 13"/>
          <p:cNvSpPr/>
          <p:nvPr/>
        </p:nvSpPr>
        <p:spPr>
          <a:xfrm>
            <a:off x="704088" y="3090672"/>
            <a:ext cx="14264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 connector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423160" y="3017520"/>
            <a:ext cx="35204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7" name="Text 15"/>
          <p:cNvSpPr/>
          <p:nvPr/>
        </p:nvSpPr>
        <p:spPr>
          <a:xfrm>
            <a:off x="2532888" y="3090672"/>
            <a:ext cx="330098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 vendor model, launch model, or a measured connectorized reference.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0" y="3017520"/>
            <a:ext cx="1645920" cy="502920"/>
          </a:xfrm>
          <a:prstGeom prst="roundRect">
            <a:avLst/>
          </a:prstGeom>
          <a:solidFill>
            <a:srgbClr val="1E467D"/>
          </a:solidFill>
          <a:ln w="12700">
            <a:solidFill>
              <a:srgbClr val="1E467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9" name="Text 17"/>
          <p:cNvSpPr/>
          <p:nvPr/>
        </p:nvSpPr>
        <p:spPr>
          <a:xfrm>
            <a:off x="6327648" y="3090672"/>
            <a:ext cx="14264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Cables / adapters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046720" y="3017520"/>
            <a:ext cx="35204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1" name="Text 19"/>
          <p:cNvSpPr/>
          <p:nvPr/>
        </p:nvSpPr>
        <p:spPr>
          <a:xfrm>
            <a:off x="8156448" y="3090672"/>
            <a:ext cx="330098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hide them in the DUT model. Calibrate or include their S-parameters explicitly.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" y="4983480"/>
            <a:ext cx="1051560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Touchstone files normally use a .s1p, .s2p, or similar extension.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whether the file is measured at 50 ohm and whether it uses dB/angle or real/imaginary format.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a copy of every model used in the thesis project folder and record its source.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30" dirty="0">
                <a:solidFill>
                  <a:srgbClr val="1E4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| AWR ANALYSIS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5: simulate both valid population states and sweep the sensitive dimensions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921240" y="393192"/>
            <a:ext cx="1764792" cy="265176"/>
          </a:xfrm>
          <a:prstGeom prst="roundRect">
            <a:avLst/>
          </a:prstGeom>
          <a:solidFill>
            <a:srgbClr val="163458"/>
          </a:solidFill>
          <a:ln w="12700">
            <a:solidFill>
              <a:srgbClr val="16345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/>
          <p:nvPr/>
        </p:nvSpPr>
        <p:spPr>
          <a:xfrm>
            <a:off x="9921240" y="406908"/>
            <a:ext cx="1764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280160"/>
            <a:ext cx="1325880" cy="438912"/>
          </a:xfrm>
          <a:prstGeom prst="roundRect">
            <a:avLst/>
          </a:prstGeom>
          <a:solidFill>
            <a:srgbClr val="163458"/>
          </a:solidFill>
          <a:ln w="12700">
            <a:solidFill>
              <a:srgbClr val="16345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Text 5"/>
          <p:cNvSpPr/>
          <p:nvPr/>
        </p:nvSpPr>
        <p:spPr>
          <a:xfrm>
            <a:off x="704088" y="1353312"/>
            <a:ext cx="1106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103120" y="1280160"/>
            <a:ext cx="2971800" cy="438912"/>
          </a:xfrm>
          <a:prstGeom prst="roundRect">
            <a:avLst/>
          </a:prstGeom>
          <a:solidFill>
            <a:srgbClr val="163458"/>
          </a:solidFill>
          <a:ln w="12700">
            <a:solidFill>
              <a:srgbClr val="16345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9" name="Text 7"/>
          <p:cNvSpPr/>
          <p:nvPr/>
        </p:nvSpPr>
        <p:spPr>
          <a:xfrm>
            <a:off x="2212848" y="1353312"/>
            <a:ext cx="2752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definition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49240" y="1280160"/>
            <a:ext cx="2606040" cy="438912"/>
          </a:xfrm>
          <a:prstGeom prst="roundRect">
            <a:avLst/>
          </a:prstGeom>
          <a:solidFill>
            <a:srgbClr val="163458"/>
          </a:solidFill>
          <a:ln w="12700">
            <a:solidFill>
              <a:srgbClr val="16345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Text 9"/>
          <p:cNvSpPr/>
          <p:nvPr/>
        </p:nvSpPr>
        <p:spPr>
          <a:xfrm>
            <a:off x="5458968" y="1353312"/>
            <a:ext cx="2386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0" y="1280160"/>
            <a:ext cx="3383280" cy="438912"/>
          </a:xfrm>
          <a:prstGeom prst="roundRect">
            <a:avLst/>
          </a:prstGeom>
          <a:solidFill>
            <a:srgbClr val="163458"/>
          </a:solidFill>
          <a:ln w="12700">
            <a:solidFill>
              <a:srgbClr val="16345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3" name="Text 11"/>
          <p:cNvSpPr/>
          <p:nvPr/>
        </p:nvSpPr>
        <p:spPr>
          <a:xfrm>
            <a:off x="8339328" y="1353312"/>
            <a:ext cx="3163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" y="1719072"/>
            <a:ext cx="1325880" cy="621792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5" name="Text 13"/>
          <p:cNvSpPr/>
          <p:nvPr/>
        </p:nvSpPr>
        <p:spPr>
          <a:xfrm>
            <a:off x="704088" y="1792224"/>
            <a:ext cx="1106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103120" y="1719072"/>
            <a:ext cx="2971800" cy="621792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7" name="Text 15"/>
          <p:cNvSpPr/>
          <p:nvPr/>
        </p:nvSpPr>
        <p:spPr>
          <a:xfrm>
            <a:off x="2212848" y="1792224"/>
            <a:ext cx="2752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J_DIRECT = short; J_TEST = open / terminated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349240" y="1719072"/>
            <a:ext cx="2606040" cy="621792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9" name="Text 17"/>
          <p:cNvSpPr/>
          <p:nvPr/>
        </p:nvSpPr>
        <p:spPr>
          <a:xfrm>
            <a:off x="5458968" y="1792224"/>
            <a:ext cx="23865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S11 at input; S21 to NEXT; effect of inactive branch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94360" y="2450592"/>
            <a:ext cx="13258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1" name="Text 19"/>
          <p:cNvSpPr/>
          <p:nvPr/>
        </p:nvSpPr>
        <p:spPr>
          <a:xfrm>
            <a:off x="704088" y="2523744"/>
            <a:ext cx="1106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B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103120" y="2450592"/>
            <a:ext cx="297180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3" name="Text 21"/>
          <p:cNvSpPr/>
          <p:nvPr/>
        </p:nvSpPr>
        <p:spPr>
          <a:xfrm>
            <a:off x="2212848" y="2523744"/>
            <a:ext cx="2752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J_DIRECT = open; J_TEST = short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349240" y="2450592"/>
            <a:ext cx="260604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5" name="Text 23"/>
          <p:cNvSpPr/>
          <p:nvPr/>
        </p:nvSpPr>
        <p:spPr>
          <a:xfrm>
            <a:off x="5458968" y="2523744"/>
            <a:ext cx="23865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S11 at input; S21 to TEST; test-route loss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94360" y="3182112"/>
            <a:ext cx="1325880" cy="621792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7" name="Text 25"/>
          <p:cNvSpPr/>
          <p:nvPr/>
        </p:nvSpPr>
        <p:spPr>
          <a:xfrm>
            <a:off x="704088" y="3255264"/>
            <a:ext cx="1106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Sensitivity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103120" y="3182112"/>
            <a:ext cx="2971800" cy="621792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9" name="Text 27"/>
          <p:cNvSpPr/>
          <p:nvPr/>
        </p:nvSpPr>
        <p:spPr>
          <a:xfrm>
            <a:off x="2212848" y="3255264"/>
            <a:ext cx="2752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Sweep W, Lbranch, Lpad, and connector launch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349240" y="3182112"/>
            <a:ext cx="2606040" cy="621792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1" name="Text 29"/>
          <p:cNvSpPr/>
          <p:nvPr/>
        </p:nvSpPr>
        <p:spPr>
          <a:xfrm>
            <a:off x="5458968" y="3255264"/>
            <a:ext cx="23865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which dimension moves the 12 GHz response most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94360" y="3913632"/>
            <a:ext cx="13258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3" name="Text 31"/>
          <p:cNvSpPr/>
          <p:nvPr/>
        </p:nvSpPr>
        <p:spPr>
          <a:xfrm>
            <a:off x="704088" y="3986784"/>
            <a:ext cx="1106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2103120" y="3913632"/>
            <a:ext cx="297180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5" name="Text 33"/>
          <p:cNvSpPr/>
          <p:nvPr/>
        </p:nvSpPr>
        <p:spPr>
          <a:xfrm>
            <a:off x="2212848" y="3986784"/>
            <a:ext cx="2752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limits to the graphs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349240" y="3913632"/>
            <a:ext cx="260604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7" name="Text 35"/>
          <p:cNvSpPr/>
          <p:nvPr/>
        </p:nvSpPr>
        <p:spPr>
          <a:xfrm>
            <a:off x="5458968" y="3986784"/>
            <a:ext cx="23865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/ fail by frequency, not only at one marker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731520" y="5166360"/>
            <a:ext cx="10561320" cy="640080"/>
          </a:xfrm>
          <a:prstGeom prst="roundRect">
            <a:avLst/>
          </a:prstGeom>
          <a:solidFill>
            <a:srgbClr val="FFF5E5"/>
          </a:solidFill>
          <a:ln w="12700">
            <a:solidFill>
              <a:srgbClr val="E8C57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9" name="Text 37"/>
          <p:cNvSpPr/>
          <p:nvPr/>
        </p:nvSpPr>
        <p:spPr>
          <a:xfrm>
            <a:off x="841248" y="5239512"/>
            <a:ext cx="103418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optimization only after the model is physically sensible. An optimizer can find a mathematically good but unmanufacturable geometry.</a:t>
            </a:r>
            <a:endParaRPr lang="en-US" sz="160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30" dirty="0">
                <a:solidFill>
                  <a:srgbClr val="1E4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| AWR 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6: use EM simulation for the branch, pads, and return path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921240" y="393192"/>
            <a:ext cx="1764792" cy="265176"/>
          </a:xfrm>
          <a:prstGeom prst="roundRect">
            <a:avLst/>
          </a:prstGeom>
          <a:solidFill>
            <a:srgbClr val="163458"/>
          </a:solidFill>
          <a:ln w="12700">
            <a:solidFill>
              <a:srgbClr val="16345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/>
          <p:nvPr/>
        </p:nvSpPr>
        <p:spPr>
          <a:xfrm>
            <a:off x="9921240" y="406908"/>
            <a:ext cx="1764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AXIEM-STYLE EM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457200" cy="265176"/>
          </a:xfrm>
          <a:prstGeom prst="roundRect">
            <a:avLst/>
          </a:prstGeom>
          <a:solidFill>
            <a:srgbClr val="1E467D"/>
          </a:solidFill>
          <a:ln w="12700">
            <a:solidFill>
              <a:srgbClr val="1E467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Text 5"/>
          <p:cNvSpPr/>
          <p:nvPr/>
        </p:nvSpPr>
        <p:spPr>
          <a:xfrm>
            <a:off x="731520" y="1248156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417320" y="1252728"/>
            <a:ext cx="2057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EM structure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0" y="125272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the selector region, stack-up, ports, and ground boundary.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31520" y="2020824"/>
            <a:ext cx="457200" cy="265176"/>
          </a:xfrm>
          <a:prstGeom prst="roundRect">
            <a:avLst/>
          </a:prstGeom>
          <a:solidFill>
            <a:srgbClr val="1E467D"/>
          </a:solidFill>
          <a:ln w="12700">
            <a:solidFill>
              <a:srgbClr val="1E467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Text 9"/>
          <p:cNvSpPr/>
          <p:nvPr/>
        </p:nvSpPr>
        <p:spPr>
          <a:xfrm>
            <a:off x="731520" y="2034540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417320" y="2039112"/>
            <a:ext cx="2057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physical metal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57600" y="203911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 trace widths, branch, pads, vias, connector launch, and nearby copper.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31520" y="2807208"/>
            <a:ext cx="457200" cy="265176"/>
          </a:xfrm>
          <a:prstGeom prst="roundRect">
            <a:avLst/>
          </a:prstGeom>
          <a:solidFill>
            <a:srgbClr val="1E467D"/>
          </a:solidFill>
          <a:ln w="12700">
            <a:solidFill>
              <a:srgbClr val="1E467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5" name="Text 13"/>
          <p:cNvSpPr/>
          <p:nvPr/>
        </p:nvSpPr>
        <p:spPr>
          <a:xfrm>
            <a:off x="731520" y="2820924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417320" y="2825496"/>
            <a:ext cx="2057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ports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57600" y="2825496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ports where the circuit model will connect; keep the reference plane intentional.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31520" y="3593592"/>
            <a:ext cx="457200" cy="265176"/>
          </a:xfrm>
          <a:prstGeom prst="roundRect">
            <a:avLst/>
          </a:prstGeom>
          <a:solidFill>
            <a:srgbClr val="1E467D"/>
          </a:solidFill>
          <a:ln w="12700">
            <a:solidFill>
              <a:srgbClr val="1E467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9" name="Text 17"/>
          <p:cNvSpPr/>
          <p:nvPr/>
        </p:nvSpPr>
        <p:spPr>
          <a:xfrm>
            <a:off x="731520" y="3607308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417320" y="3611880"/>
            <a:ext cx="2057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Sweep frequency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657600" y="36118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same frequency range as the schematic simulation.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731520" y="4379976"/>
            <a:ext cx="457200" cy="265176"/>
          </a:xfrm>
          <a:prstGeom prst="roundRect">
            <a:avLst/>
          </a:prstGeom>
          <a:solidFill>
            <a:srgbClr val="1E467D"/>
          </a:solidFill>
          <a:ln w="12700">
            <a:solidFill>
              <a:srgbClr val="1E467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3" name="Text 21"/>
          <p:cNvSpPr/>
          <p:nvPr/>
        </p:nvSpPr>
        <p:spPr>
          <a:xfrm>
            <a:off x="731520" y="4393692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417320" y="4398264"/>
            <a:ext cx="2057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S-parameters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657600" y="4398264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EM result as a block in the circuit schematic.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731520" y="5440680"/>
            <a:ext cx="10561320" cy="594360"/>
          </a:xfrm>
          <a:prstGeom prst="roundRect">
            <a:avLst/>
          </a:prstGeom>
          <a:solidFill>
            <a:srgbClr val="163458"/>
          </a:solidFill>
          <a:ln w="12700">
            <a:solidFill>
              <a:srgbClr val="16345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7" name="Text 25"/>
          <p:cNvSpPr/>
          <p:nvPr/>
        </p:nvSpPr>
        <p:spPr>
          <a:xfrm>
            <a:off x="841248" y="5513832"/>
            <a:ext cx="1034186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is where the model begins to see the real branch discontinuity. Start with a small region around the selector so the simulation remains fast and interpretable.</a:t>
            </a:r>
            <a:endParaRPr lang="en-US" sz="15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30" dirty="0">
                <a:solidFill>
                  <a:srgbClr val="1E4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| CIRCUIT + EM CO-SIMULATION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7: co-simulate the EM selector with the RF component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921240" y="393192"/>
            <a:ext cx="1764792" cy="265176"/>
          </a:xfrm>
          <a:prstGeom prst="roundRect">
            <a:avLst/>
          </a:prstGeom>
          <a:solidFill>
            <a:srgbClr val="163458"/>
          </a:solidFill>
          <a:ln w="12700">
            <a:solidFill>
              <a:srgbClr val="16345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/>
          <p:nvPr/>
        </p:nvSpPr>
        <p:spPr>
          <a:xfrm>
            <a:off x="9921240" y="406908"/>
            <a:ext cx="1764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THE MODEL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2514600"/>
            <a:ext cx="1417320" cy="658368"/>
          </a:xfrm>
          <a:prstGeom prst="roundRect">
            <a:avLst/>
          </a:prstGeom>
          <a:solidFill>
            <a:srgbClr val="EAF2FB"/>
          </a:solidFill>
          <a:ln w="19050">
            <a:solidFill>
              <a:srgbClr val="1E467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148840" y="2843784"/>
            <a:ext cx="914400" cy="0"/>
          </a:xfrm>
          <a:prstGeom prst="line">
            <a:avLst/>
          </a:prstGeom>
          <a:noFill/>
          <a:ln w="31750">
            <a:solidFill>
              <a:srgbClr val="1E467D"/>
            </a:solidFill>
            <a:prstDash val="solid"/>
            <a:tail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9" name="Shape 7"/>
          <p:cNvSpPr/>
          <p:nvPr/>
        </p:nvSpPr>
        <p:spPr>
          <a:xfrm>
            <a:off x="3200400" y="2423160"/>
            <a:ext cx="1600200" cy="841248"/>
          </a:xfrm>
          <a:prstGeom prst="roundRect">
            <a:avLst/>
          </a:prstGeom>
          <a:solidFill>
            <a:srgbClr val="1E467D"/>
          </a:solidFill>
          <a:ln w="12700">
            <a:solidFill>
              <a:srgbClr val="1E467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Text 8"/>
          <p:cNvSpPr/>
          <p:nvPr/>
        </p:nvSpPr>
        <p:spPr>
          <a:xfrm>
            <a:off x="3310128" y="2496312"/>
            <a:ext cx="13807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S2P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selector block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800600" y="2843784"/>
            <a:ext cx="1051560" cy="0"/>
          </a:xfrm>
          <a:prstGeom prst="line">
            <a:avLst/>
          </a:prstGeom>
          <a:noFill/>
          <a:ln w="31750">
            <a:solidFill>
              <a:srgbClr val="1E467D"/>
            </a:solidFill>
            <a:prstDash val="solid"/>
            <a:tail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12" name="Shape 10"/>
          <p:cNvSpPr/>
          <p:nvPr/>
        </p:nvSpPr>
        <p:spPr>
          <a:xfrm>
            <a:off x="6035040" y="2514600"/>
            <a:ext cx="1600200" cy="658368"/>
          </a:xfrm>
          <a:prstGeom prst="roundRect">
            <a:avLst/>
          </a:prstGeom>
          <a:solidFill>
            <a:srgbClr val="E8F5EF"/>
          </a:solidFill>
          <a:ln w="1905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3" name="Text 11"/>
          <p:cNvSpPr/>
          <p:nvPr/>
        </p:nvSpPr>
        <p:spPr>
          <a:xfrm>
            <a:off x="6035040" y="256032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/ TEST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046720" y="1508760"/>
            <a:ext cx="3063240" cy="2377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the ideal branch in the circuit schematic with the EM-generated multiport data.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State A and State B with the same RF component and port definitions.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circuit-only, EM-only, and co-simulated results to isolate where the loss or mismatch comes from.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the exact EM project, mesh settings, stack-up, and exported file used for the thesis plot.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001000" y="4617720"/>
            <a:ext cx="3246120" cy="731520"/>
          </a:xfrm>
          <a:prstGeom prst="roundRect">
            <a:avLst/>
          </a:prstGeom>
          <a:solidFill>
            <a:srgbClr val="FFF5E5"/>
          </a:solidFill>
          <a:ln w="12700">
            <a:solidFill>
              <a:srgbClr val="E8C57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6" name="Text 14"/>
          <p:cNvSpPr/>
          <p:nvPr/>
        </p:nvSpPr>
        <p:spPr>
          <a:xfrm>
            <a:off x="8110728" y="4690872"/>
            <a:ext cx="30266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measured board disagrees, first check stack-up and reference planes before changing the topology.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30" dirty="0">
                <a:solidFill>
                  <a:srgbClr val="1E4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| KICAD LAYOUT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8: transfer the validated dimensions into KiCad deliberately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921240" y="393192"/>
            <a:ext cx="1764792" cy="265176"/>
          </a:xfrm>
          <a:prstGeom prst="roundRect">
            <a:avLst/>
          </a:prstGeom>
          <a:solidFill>
            <a:srgbClr val="163458"/>
          </a:solidFill>
          <a:ln w="12700">
            <a:solidFill>
              <a:srgbClr val="16345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/>
          <p:nvPr/>
        </p:nvSpPr>
        <p:spPr>
          <a:xfrm>
            <a:off x="9921240" y="406908"/>
            <a:ext cx="1764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 IMPLEMENTATION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1143000"/>
            <a:ext cx="411480" cy="265176"/>
          </a:xfrm>
          <a:prstGeom prst="roundRect">
            <a:avLst/>
          </a:prstGeom>
          <a:solidFill>
            <a:srgbClr val="1E467D"/>
          </a:solidFill>
          <a:ln w="12700">
            <a:solidFill>
              <a:srgbClr val="1E467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Text 5"/>
          <p:cNvSpPr/>
          <p:nvPr/>
        </p:nvSpPr>
        <p:spPr>
          <a:xfrm>
            <a:off x="685800" y="1156716"/>
            <a:ext cx="411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280160" y="117043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the project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063240" y="1170432"/>
            <a:ext cx="8183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units, grid, net classes, board outline, and revision-controlled project folder.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685800" y="1856232"/>
            <a:ext cx="411480" cy="265176"/>
          </a:xfrm>
          <a:prstGeom prst="roundRect">
            <a:avLst/>
          </a:prstGeom>
          <a:solidFill>
            <a:srgbClr val="1E467D"/>
          </a:solidFill>
          <a:ln w="12700">
            <a:solidFill>
              <a:srgbClr val="1E467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Text 9"/>
          <p:cNvSpPr/>
          <p:nvPr/>
        </p:nvSpPr>
        <p:spPr>
          <a:xfrm>
            <a:off x="685800" y="1869948"/>
            <a:ext cx="411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280160" y="188366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the stack-up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063240" y="1883664"/>
            <a:ext cx="8183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manufacturer stack-up, dielectric thickness, Dk, copper thickness, and impedance rules.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685800" y="2569464"/>
            <a:ext cx="411480" cy="265176"/>
          </a:xfrm>
          <a:prstGeom prst="roundRect">
            <a:avLst/>
          </a:prstGeom>
          <a:solidFill>
            <a:srgbClr val="1E467D"/>
          </a:solidFill>
          <a:ln w="12700">
            <a:solidFill>
              <a:srgbClr val="1E467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5" name="Text 13"/>
          <p:cNvSpPr/>
          <p:nvPr/>
        </p:nvSpPr>
        <p:spPr>
          <a:xfrm>
            <a:off x="685800" y="2583180"/>
            <a:ext cx="411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280160" y="259689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footprints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3063240" y="2596896"/>
            <a:ext cx="8183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RF component, link footprints, test connector, and nearby ground vias first.</a:t>
            </a:r>
            <a:endParaRPr lang="en-US" sz="1320" dirty="0"/>
          </a:p>
        </p:txBody>
      </p:sp>
      <p:sp>
        <p:nvSpPr>
          <p:cNvPr id="18" name="Shape 16"/>
          <p:cNvSpPr/>
          <p:nvPr/>
        </p:nvSpPr>
        <p:spPr>
          <a:xfrm>
            <a:off x="685800" y="3282696"/>
            <a:ext cx="411480" cy="265176"/>
          </a:xfrm>
          <a:prstGeom prst="roundRect">
            <a:avLst/>
          </a:prstGeom>
          <a:solidFill>
            <a:srgbClr val="1E467D"/>
          </a:solidFill>
          <a:ln w="12700">
            <a:solidFill>
              <a:srgbClr val="1E467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9" name="Text 17"/>
          <p:cNvSpPr/>
          <p:nvPr/>
        </p:nvSpPr>
        <p:spPr>
          <a:xfrm>
            <a:off x="685800" y="3296412"/>
            <a:ext cx="411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280160" y="331012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RF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3063240" y="3310128"/>
            <a:ext cx="8183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AWR width and length as starting values; keep branch short and reference plane continuous.</a:t>
            </a:r>
            <a:endParaRPr lang="en-US" sz="1320" dirty="0"/>
          </a:p>
        </p:txBody>
      </p:sp>
      <p:sp>
        <p:nvSpPr>
          <p:cNvPr id="22" name="Shape 20"/>
          <p:cNvSpPr/>
          <p:nvPr/>
        </p:nvSpPr>
        <p:spPr>
          <a:xfrm>
            <a:off x="685800" y="3995928"/>
            <a:ext cx="411480" cy="265176"/>
          </a:xfrm>
          <a:prstGeom prst="roundRect">
            <a:avLst/>
          </a:prstGeom>
          <a:solidFill>
            <a:srgbClr val="1E467D"/>
          </a:solidFill>
          <a:ln w="12700">
            <a:solidFill>
              <a:srgbClr val="1E467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3" name="Text 21"/>
          <p:cNvSpPr/>
          <p:nvPr/>
        </p:nvSpPr>
        <p:spPr>
          <a:xfrm>
            <a:off x="685800" y="4009644"/>
            <a:ext cx="411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280160" y="402336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fabrication details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3063240" y="4023360"/>
            <a:ext cx="8183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Silkscreen population labels, DNP notes, polarity, connector direction, and test points.</a:t>
            </a:r>
            <a:endParaRPr lang="en-US" sz="1320" dirty="0"/>
          </a:p>
        </p:txBody>
      </p:sp>
      <p:sp>
        <p:nvSpPr>
          <p:cNvPr id="26" name="Shape 24"/>
          <p:cNvSpPr/>
          <p:nvPr/>
        </p:nvSpPr>
        <p:spPr>
          <a:xfrm>
            <a:off x="685800" y="4709160"/>
            <a:ext cx="411480" cy="265176"/>
          </a:xfrm>
          <a:prstGeom prst="roundRect">
            <a:avLst/>
          </a:prstGeom>
          <a:solidFill>
            <a:srgbClr val="1E467D"/>
          </a:solidFill>
          <a:ln w="12700">
            <a:solidFill>
              <a:srgbClr val="1E467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7" name="Text 25"/>
          <p:cNvSpPr/>
          <p:nvPr/>
        </p:nvSpPr>
        <p:spPr>
          <a:xfrm>
            <a:off x="685800" y="4722876"/>
            <a:ext cx="411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280160" y="473659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checks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3063240" y="4736592"/>
            <a:ext cx="8183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DRC, courtyard, annular ring, soldermask, fab drawing, and impedance review.</a:t>
            </a:r>
            <a:endParaRPr lang="en-US" sz="1320" dirty="0"/>
          </a:p>
        </p:txBody>
      </p:sp>
      <p:sp>
        <p:nvSpPr>
          <p:cNvPr id="30" name="Shape 28"/>
          <p:cNvSpPr/>
          <p:nvPr/>
        </p:nvSpPr>
        <p:spPr>
          <a:xfrm>
            <a:off x="731520" y="5486400"/>
            <a:ext cx="10561320" cy="566928"/>
          </a:xfrm>
          <a:prstGeom prst="roundRect">
            <a:avLst/>
          </a:prstGeom>
          <a:solidFill>
            <a:srgbClr val="163458"/>
          </a:solidFill>
          <a:ln w="12700">
            <a:solidFill>
              <a:srgbClr val="16345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1" name="Text 29"/>
          <p:cNvSpPr/>
          <p:nvPr/>
        </p:nvSpPr>
        <p:spPr>
          <a:xfrm>
            <a:off x="841248" y="5559552"/>
            <a:ext cx="10341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assume AWR and KiCad use identical origin, layer naming, or pad geometry. Compare the actual copper dimensions after layout.</a:t>
            </a:r>
            <a:endParaRPr lang="en-US" sz="15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30" dirty="0">
                <a:solidFill>
                  <a:srgbClr val="1E4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| KICAD REVIEW CHECKLIST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9: perform a layout review before fabrication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921240" y="393192"/>
            <a:ext cx="1764792" cy="265176"/>
          </a:xfrm>
          <a:prstGeom prst="roundRect">
            <a:avLst/>
          </a:prstGeom>
          <a:solidFill>
            <a:srgbClr val="163458"/>
          </a:solidFill>
          <a:ln w="12700">
            <a:solidFill>
              <a:srgbClr val="16345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/>
          <p:nvPr/>
        </p:nvSpPr>
        <p:spPr>
          <a:xfrm>
            <a:off x="9921240" y="406908"/>
            <a:ext cx="1764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PRE-FAB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188720"/>
            <a:ext cx="1508760" cy="502920"/>
          </a:xfrm>
          <a:prstGeom prst="roundRect">
            <a:avLst/>
          </a:prstGeom>
          <a:solidFill>
            <a:srgbClr val="1E467D"/>
          </a:solidFill>
          <a:ln w="12700">
            <a:solidFill>
              <a:srgbClr val="1E467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Text 5"/>
          <p:cNvSpPr/>
          <p:nvPr/>
        </p:nvSpPr>
        <p:spPr>
          <a:xfrm>
            <a:off x="841248" y="1261872"/>
            <a:ext cx="128930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Geometry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514600" y="1207008"/>
            <a:ext cx="8458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W, Lbranch, pad dimensions, and connector launch close to the AWR model?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1993392"/>
            <a:ext cx="1508760" cy="502920"/>
          </a:xfrm>
          <a:prstGeom prst="roundRect">
            <a:avLst/>
          </a:prstGeom>
          <a:solidFill>
            <a:srgbClr val="1E467D"/>
          </a:solidFill>
          <a:ln w="12700">
            <a:solidFill>
              <a:srgbClr val="1E467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Text 8"/>
          <p:cNvSpPr/>
          <p:nvPr/>
        </p:nvSpPr>
        <p:spPr>
          <a:xfrm>
            <a:off x="841248" y="2066544"/>
            <a:ext cx="128930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514600" y="2011680"/>
            <a:ext cx="8458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reference plane continuous under the RF path? Are ground vias close enough to the transition?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2798064"/>
            <a:ext cx="1508760" cy="502920"/>
          </a:xfrm>
          <a:prstGeom prst="roundRect">
            <a:avLst/>
          </a:prstGeom>
          <a:solidFill>
            <a:srgbClr val="1E467D"/>
          </a:solidFill>
          <a:ln w="12700">
            <a:solidFill>
              <a:srgbClr val="1E467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3" name="Text 11"/>
          <p:cNvSpPr/>
          <p:nvPr/>
        </p:nvSpPr>
        <p:spPr>
          <a:xfrm>
            <a:off x="841248" y="2871216"/>
            <a:ext cx="128930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514600" y="2816352"/>
            <a:ext cx="8458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J_DIRECT and J_TEST be reworked without damaging the RF trace? Are DNP states unambiguous?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3602736"/>
            <a:ext cx="1508760" cy="502920"/>
          </a:xfrm>
          <a:prstGeom prst="roundRect">
            <a:avLst/>
          </a:prstGeom>
          <a:solidFill>
            <a:srgbClr val="1E467D"/>
          </a:solidFill>
          <a:ln w="12700">
            <a:solidFill>
              <a:srgbClr val="1E467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6" name="Text 14"/>
          <p:cNvSpPr/>
          <p:nvPr/>
        </p:nvSpPr>
        <p:spPr>
          <a:xfrm>
            <a:off x="841248" y="3675888"/>
            <a:ext cx="128930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Mechanical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514600" y="3621024"/>
            <a:ext cx="8458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the test cable mate without bending the board or touching sensitive parts?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1520" y="4407408"/>
            <a:ext cx="1508760" cy="502920"/>
          </a:xfrm>
          <a:prstGeom prst="roundRect">
            <a:avLst/>
          </a:prstGeom>
          <a:solidFill>
            <a:srgbClr val="1E467D"/>
          </a:solidFill>
          <a:ln w="12700">
            <a:solidFill>
              <a:srgbClr val="1E467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9" name="Text 17"/>
          <p:cNvSpPr/>
          <p:nvPr/>
        </p:nvSpPr>
        <p:spPr>
          <a:xfrm>
            <a:off x="841248" y="4480560"/>
            <a:ext cx="128930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514600" y="4425696"/>
            <a:ext cx="8458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stack-up, footprints, link values, DNP notes, and revision recorded?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31520" y="5440680"/>
            <a:ext cx="10561320" cy="594360"/>
          </a:xfrm>
          <a:prstGeom prst="roundRect">
            <a:avLst/>
          </a:prstGeom>
          <a:solidFill>
            <a:srgbClr val="E8F5EF"/>
          </a:solidFill>
          <a:ln w="12700">
            <a:solidFill>
              <a:srgbClr val="9AC9B1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2" name="Text 20"/>
          <p:cNvSpPr/>
          <p:nvPr/>
        </p:nvSpPr>
        <p:spPr>
          <a:xfrm>
            <a:off x="841248" y="5513832"/>
            <a:ext cx="1034186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a PDF of the final layout and annotate the RF current path. This is useful in the thesis and catches accidental detours.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30" dirty="0">
                <a:solidFill>
                  <a:srgbClr val="1E4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| MEASUREMENT CLOSURE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10: validate the fabricated board and update the model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921240" y="393192"/>
            <a:ext cx="1764792" cy="265176"/>
          </a:xfrm>
          <a:prstGeom prst="roundRect">
            <a:avLst/>
          </a:prstGeom>
          <a:solidFill>
            <a:srgbClr val="163458"/>
          </a:solidFill>
          <a:ln w="12700">
            <a:solidFill>
              <a:srgbClr val="16345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/>
          <p:nvPr/>
        </p:nvSpPr>
        <p:spPr>
          <a:xfrm>
            <a:off x="9921240" y="406908"/>
            <a:ext cx="1764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VS HARDWARE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1874520" cy="530352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B7CDE4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Text 5"/>
          <p:cNvSpPr/>
          <p:nvPr/>
        </p:nvSpPr>
        <p:spPr>
          <a:xfrm>
            <a:off x="749808" y="1490472"/>
            <a:ext cx="1655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AWR prediction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" y="2194560"/>
            <a:ext cx="1810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S11 / S21 / isolation plots with model version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542032" y="1682496"/>
            <a:ext cx="274320" cy="0"/>
          </a:xfrm>
          <a:prstGeom prst="line">
            <a:avLst/>
          </a:prstGeom>
          <a:noFill/>
          <a:ln w="25400">
            <a:solidFill>
              <a:srgbClr val="D0D5DD"/>
            </a:solidFill>
            <a:prstDash val="solid"/>
            <a:tail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10" name="Shape 8"/>
          <p:cNvSpPr/>
          <p:nvPr/>
        </p:nvSpPr>
        <p:spPr>
          <a:xfrm>
            <a:off x="2907792" y="1417320"/>
            <a:ext cx="1874520" cy="530352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Text 9"/>
          <p:cNvSpPr/>
          <p:nvPr/>
        </p:nvSpPr>
        <p:spPr>
          <a:xfrm>
            <a:off x="3017520" y="1490472"/>
            <a:ext cx="1655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KiCad release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935224" y="2194560"/>
            <a:ext cx="1810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Gerbers, drill files, stack-up, BOM, population state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809744" y="1682496"/>
            <a:ext cx="274320" cy="0"/>
          </a:xfrm>
          <a:prstGeom prst="line">
            <a:avLst/>
          </a:prstGeom>
          <a:noFill/>
          <a:ln w="25400">
            <a:solidFill>
              <a:srgbClr val="D0D5DD"/>
            </a:solidFill>
            <a:prstDash val="solid"/>
            <a:tail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14" name="Shape 12"/>
          <p:cNvSpPr/>
          <p:nvPr/>
        </p:nvSpPr>
        <p:spPr>
          <a:xfrm>
            <a:off x="5175504" y="1417320"/>
            <a:ext cx="1874520" cy="530352"/>
          </a:xfrm>
          <a:prstGeom prst="roundRect">
            <a:avLst/>
          </a:prstGeom>
          <a:solidFill>
            <a:srgbClr val="FFF5E5"/>
          </a:solidFill>
          <a:ln w="12700">
            <a:solidFill>
              <a:srgbClr val="E8C57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5" name="Text 13"/>
          <p:cNvSpPr/>
          <p:nvPr/>
        </p:nvSpPr>
        <p:spPr>
          <a:xfrm>
            <a:off x="5285232" y="1490472"/>
            <a:ext cx="1655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measurement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202936" y="2194560"/>
            <a:ext cx="1810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Calibration, photographs, exact cable routing, raw Touchstone files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077456" y="1682496"/>
            <a:ext cx="274320" cy="0"/>
          </a:xfrm>
          <a:prstGeom prst="line">
            <a:avLst/>
          </a:prstGeom>
          <a:noFill/>
          <a:ln w="25400">
            <a:solidFill>
              <a:srgbClr val="D0D5DD"/>
            </a:solidFill>
            <a:prstDash val="solid"/>
            <a:tail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18" name="Shape 16"/>
          <p:cNvSpPr/>
          <p:nvPr/>
        </p:nvSpPr>
        <p:spPr>
          <a:xfrm>
            <a:off x="7443216" y="1417320"/>
            <a:ext cx="1874520" cy="530352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9" name="Text 17"/>
          <p:cNvSpPr/>
          <p:nvPr/>
        </p:nvSpPr>
        <p:spPr>
          <a:xfrm>
            <a:off x="7552944" y="1490472"/>
            <a:ext cx="1655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70648" y="2194560"/>
            <a:ext cx="1810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Overlay measured and simulated traces; explain differences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345168" y="1682496"/>
            <a:ext cx="274320" cy="0"/>
          </a:xfrm>
          <a:prstGeom prst="line">
            <a:avLst/>
          </a:prstGeom>
          <a:noFill/>
          <a:ln w="25400">
            <a:solidFill>
              <a:srgbClr val="D0D5DD"/>
            </a:solidFill>
            <a:prstDash val="solid"/>
            <a:tailEnd type="triangle"/>
          </a:ln>
        </p:spPr>
        <p:txBody>
          <a:bodyPr/>
          <a:lstStyle/>
          <a:p>
            <a:endParaRPr lang="cs-CZ"/>
          </a:p>
        </p:txBody>
      </p:sp>
      <p:sp>
        <p:nvSpPr>
          <p:cNvPr id="22" name="Shape 20"/>
          <p:cNvSpPr/>
          <p:nvPr/>
        </p:nvSpPr>
        <p:spPr>
          <a:xfrm>
            <a:off x="9710928" y="1417320"/>
            <a:ext cx="1874520" cy="530352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3" name="Text 21"/>
          <p:cNvSpPr/>
          <p:nvPr/>
        </p:nvSpPr>
        <p:spPr>
          <a:xfrm>
            <a:off x="9820656" y="1490472"/>
            <a:ext cx="1655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Thesis result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738360" y="2194560"/>
            <a:ext cx="1810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path choice, error budget, limitations, and next revision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31520" y="5074920"/>
            <a:ext cx="10561320" cy="713232"/>
          </a:xfrm>
          <a:prstGeom prst="roundRect">
            <a:avLst/>
          </a:prstGeom>
          <a:solidFill>
            <a:srgbClr val="163458"/>
          </a:solidFill>
          <a:ln w="12700">
            <a:solidFill>
              <a:srgbClr val="16345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6" name="Text 24"/>
          <p:cNvSpPr/>
          <p:nvPr/>
        </p:nvSpPr>
        <p:spPr>
          <a:xfrm>
            <a:off x="841248" y="5148072"/>
            <a:ext cx="10341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goal is not a perfect first simulation. The goal is a traceable loop from assumptions to geometry to measurement.</a:t>
            </a:r>
            <a:endParaRPr lang="en-US" sz="18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30" dirty="0">
                <a:solidFill>
                  <a:srgbClr val="1E4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 | EXECUTION PLAN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manageable thesis schedule is: model, simulate, layout, measure, explain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921240" y="393192"/>
            <a:ext cx="1764792" cy="265176"/>
          </a:xfrm>
          <a:prstGeom prst="roundRect">
            <a:avLst/>
          </a:prstGeom>
          <a:solidFill>
            <a:srgbClr val="163458"/>
          </a:solidFill>
          <a:ln w="12700">
            <a:solidFill>
              <a:srgbClr val="16345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/>
          <p:nvPr/>
        </p:nvSpPr>
        <p:spPr>
          <a:xfrm>
            <a:off x="9921240" y="406908"/>
            <a:ext cx="1764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PLAN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1143000"/>
            <a:ext cx="822960" cy="265176"/>
          </a:xfrm>
          <a:prstGeom prst="roundRect">
            <a:avLst/>
          </a:prstGeom>
          <a:solidFill>
            <a:srgbClr val="1E467D"/>
          </a:solidFill>
          <a:ln w="12700">
            <a:solidFill>
              <a:srgbClr val="1E467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Text 5"/>
          <p:cNvSpPr/>
          <p:nvPr/>
        </p:nvSpPr>
        <p:spPr>
          <a:xfrm>
            <a:off x="685800" y="1156716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37360" y="11704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+ stack-up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51960" y="1170432"/>
            <a:ext cx="6812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frequency span, manufacturer capability, connector, RF component, and measurement equipment.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685800" y="1828800"/>
            <a:ext cx="822960" cy="265176"/>
          </a:xfrm>
          <a:prstGeom prst="roundRect">
            <a:avLst/>
          </a:prstGeom>
          <a:solidFill>
            <a:srgbClr val="1E467D"/>
          </a:solidFill>
          <a:ln w="12700">
            <a:solidFill>
              <a:srgbClr val="1E467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Text 9"/>
          <p:cNvSpPr/>
          <p:nvPr/>
        </p:nvSpPr>
        <p:spPr>
          <a:xfrm>
            <a:off x="685800" y="1842516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18562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AWR schematic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251960" y="1856232"/>
            <a:ext cx="6812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ideal and transmission-line models; define State A and State B.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685800" y="2514600"/>
            <a:ext cx="822960" cy="265176"/>
          </a:xfrm>
          <a:prstGeom prst="roundRect">
            <a:avLst/>
          </a:prstGeom>
          <a:solidFill>
            <a:srgbClr val="1E467D"/>
          </a:solidFill>
          <a:ln w="12700">
            <a:solidFill>
              <a:srgbClr val="1E467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5" name="Text 13"/>
          <p:cNvSpPr/>
          <p:nvPr/>
        </p:nvSpPr>
        <p:spPr>
          <a:xfrm>
            <a:off x="685800" y="2528316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737360" y="25420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AWR EM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251960" y="2542032"/>
            <a:ext cx="6812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branch, pads, vias, connector launch; run sensitivity sweep.</a:t>
            </a:r>
            <a:endParaRPr lang="en-US" sz="1320" dirty="0"/>
          </a:p>
        </p:txBody>
      </p:sp>
      <p:sp>
        <p:nvSpPr>
          <p:cNvPr id="18" name="Shape 16"/>
          <p:cNvSpPr/>
          <p:nvPr/>
        </p:nvSpPr>
        <p:spPr>
          <a:xfrm>
            <a:off x="685800" y="3200400"/>
            <a:ext cx="822960" cy="265176"/>
          </a:xfrm>
          <a:prstGeom prst="roundRect">
            <a:avLst/>
          </a:prstGeom>
          <a:solidFill>
            <a:srgbClr val="1E467D"/>
          </a:solidFill>
          <a:ln w="12700">
            <a:solidFill>
              <a:srgbClr val="1E467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9" name="Text 17"/>
          <p:cNvSpPr/>
          <p:nvPr/>
        </p:nvSpPr>
        <p:spPr>
          <a:xfrm>
            <a:off x="685800" y="3214116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737360" y="32278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KiCad layout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251960" y="3227832"/>
            <a:ext cx="6812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the selected dimensions, add DNP notes, review and release fab files.</a:t>
            </a:r>
            <a:endParaRPr lang="en-US" sz="1320" dirty="0"/>
          </a:p>
        </p:txBody>
      </p:sp>
      <p:sp>
        <p:nvSpPr>
          <p:cNvPr id="22" name="Shape 20"/>
          <p:cNvSpPr/>
          <p:nvPr/>
        </p:nvSpPr>
        <p:spPr>
          <a:xfrm>
            <a:off x="685800" y="3886200"/>
            <a:ext cx="822960" cy="265176"/>
          </a:xfrm>
          <a:prstGeom prst="roundRect">
            <a:avLst/>
          </a:prstGeom>
          <a:solidFill>
            <a:srgbClr val="1E467D"/>
          </a:solidFill>
          <a:ln w="12700">
            <a:solidFill>
              <a:srgbClr val="1E467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3" name="Text 21"/>
          <p:cNvSpPr/>
          <p:nvPr/>
        </p:nvSpPr>
        <p:spPr>
          <a:xfrm>
            <a:off x="685800" y="3899916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737360" y="39136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measurement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4251960" y="3913632"/>
            <a:ext cx="6812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Calibrate VNA, characterize State B, then rework to State A and repeat.</a:t>
            </a:r>
            <a:endParaRPr lang="en-US" sz="1320" dirty="0"/>
          </a:p>
        </p:txBody>
      </p:sp>
      <p:sp>
        <p:nvSpPr>
          <p:cNvPr id="26" name="Shape 24"/>
          <p:cNvSpPr/>
          <p:nvPr/>
        </p:nvSpPr>
        <p:spPr>
          <a:xfrm>
            <a:off x="685800" y="4572000"/>
            <a:ext cx="822960" cy="265176"/>
          </a:xfrm>
          <a:prstGeom prst="round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7" name="Text 25"/>
          <p:cNvSpPr/>
          <p:nvPr/>
        </p:nvSpPr>
        <p:spPr>
          <a:xfrm>
            <a:off x="685800" y="4585716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737360" y="45994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63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 + thesis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4251960" y="4599432"/>
            <a:ext cx="6812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Overlay plots, explain mismatch, document rework and final recommendation.</a:t>
            </a:r>
            <a:endParaRPr lang="en-US" sz="1320" dirty="0"/>
          </a:p>
        </p:txBody>
      </p:sp>
      <p:sp>
        <p:nvSpPr>
          <p:cNvPr id="30" name="Shape 28"/>
          <p:cNvSpPr/>
          <p:nvPr/>
        </p:nvSpPr>
        <p:spPr>
          <a:xfrm>
            <a:off x="731520" y="5486400"/>
            <a:ext cx="10561320" cy="566928"/>
          </a:xfrm>
          <a:prstGeom prst="roundRect">
            <a:avLst/>
          </a:prstGeom>
          <a:solidFill>
            <a:srgbClr val="1E467D"/>
          </a:solidFill>
          <a:ln w="12700">
            <a:solidFill>
              <a:srgbClr val="1E467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1" name="Text 29"/>
          <p:cNvSpPr/>
          <p:nvPr/>
        </p:nvSpPr>
        <p:spPr>
          <a:xfrm>
            <a:off x="841248" y="5559552"/>
            <a:ext cx="10341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first action: obtain the PCB stack-up and the RF component S-parameter file, then build the ideal State A / State B schematic in AWR.</a:t>
            </a:r>
            <a:endParaRPr lang="en-US" sz="15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35</a:t>
            </a:fld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g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QAPwwAAAAAAAAAAAAAIAD///////////////8AAAD///////////////8DAAAAAg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4lC9A2gS0hFvNv382quZ+4EAAAAAAADAAAAAAADAAAAAwADAAIA////////BQAAAAMAEAALgIqfgfcK3EKEzOFvB5I/TQQAAAABAAMAAAACAAMAAAABAAMAAAAAAP///////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CAI4OAAAAAAAAAAAAAP////+DAIMAAAAFX2lkABAAAAAEiUL0DaBLSEW82/fzaq5n7gNEYXRhABsAAAAETGlua2VkU2hhcGVEYXRhAAUAAAAAAAJOYW1lABkAAABMaW5rZWRTaGFwZXNEYXRhUHJvcGVydHkAEFZlcnNpb24AAQAAAAlMYXN0V3JpdGUAf4+sDqABAAAAAQD/////xgDGAAAABV9pZAAQAAAABICKn4H3CtxChMzhbweSP00DRGF0YQBTAAAACFByZXNlbnRhdGlvblNjYW5uZWRGb3JMaW5rZWRTaGFwZXMAAAJOdW1iZXJGb3JtYXRTZXBhcmF0b3JNb2RlAAoAAABBdXRvbWF0aWMAAAJOYW1lACQAAABMaW5rZWRTaGFwZVByZXNlbnRhdGlvblNldHRpbmdzRGF0YQAQVmVyc2lvbgAAAAAACUxhc3RXcml0ZQCHj6wOo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AAg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GgAGTGlua2VkU2hhcGVzRGF0YVByb3BlcnR5XzEEAAAAAAAFAAAAAwAFAAAAAQADAAIBAwAAAAMA////////JQAGTGlua2VkU2hhcGVQcmVzZW50YXRpb25TZXR0aW5nc0RhdGFfMAQAAAABAAUAAAAAAAUAAAACAAUAAAAAAP///////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9225493854893340"/>
  <p:tag name="EMPOWERCHARTSPROPERTIES_A_LENGTH" val="2457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4103</Words>
  <Application>Microsoft Office PowerPoint</Application>
  <PresentationFormat>Widescreen</PresentationFormat>
  <Paragraphs>700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7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KOSTAL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12 GHz RF jumpers: direct path or test connector</dc:title>
  <dc:subject>12 GHz RF path selection and test access</dc:subject>
  <dc:creator>OpenCode</dc:creator>
  <cp:lastModifiedBy>Bryja, Matej</cp:lastModifiedBy>
  <cp:revision>2</cp:revision>
  <dcterms:created xsi:type="dcterms:W3CDTF">2026-08-17T07:38:05Z</dcterms:created>
  <dcterms:modified xsi:type="dcterms:W3CDTF">2026-08-17T08:00:23Z</dcterms:modified>
</cp:coreProperties>
</file>